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6858000" cx="9144000"/>
  <p:notesSz cx="6858000" cy="9144000"/>
  <p:embeddedFontLst>
    <p:embeddedFont>
      <p:font typeface="Basic"/>
      <p:regular r:id="rId28"/>
    </p:embeddedFont>
    <p:embeddedFont>
      <p:font typeface="Ubuntu Condensed"/>
      <p:regular r:id="rId29"/>
    </p:embeddedFont>
    <p:embeddedFont>
      <p:font typeface="Kaushan Script"/>
      <p:regular r:id="rId30"/>
    </p:embeddedFont>
    <p:embeddedFont>
      <p:font typeface="Bell M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iXgQb+CV1LFxTjFwEYARxBStk0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AE1818-30DF-4590-91ED-AA444F3D80CD}">
  <a:tblStyle styleId="{C6AE1818-30DF-4590-91ED-AA444F3D80C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Basic-regular.fnt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UbuntuCondensed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BellMT-regular.fntdata"/><Relationship Id="rId30" Type="http://schemas.openxmlformats.org/officeDocument/2006/relationships/font" Target="fonts/KaushanScript-regular.fntdata"/><Relationship Id="rId11" Type="http://schemas.openxmlformats.org/officeDocument/2006/relationships/slide" Target="slides/slide4.xml"/><Relationship Id="rId33" Type="http://schemas.openxmlformats.org/officeDocument/2006/relationships/font" Target="fonts/BellMT-italic.fntdata"/><Relationship Id="rId10" Type="http://schemas.openxmlformats.org/officeDocument/2006/relationships/slide" Target="slides/slide3.xml"/><Relationship Id="rId32" Type="http://schemas.openxmlformats.org/officeDocument/2006/relationships/font" Target="fonts/BellMT-bold.fntdata"/><Relationship Id="rId13" Type="http://schemas.openxmlformats.org/officeDocument/2006/relationships/slide" Target="slides/slide6.xml"/><Relationship Id="rId35" Type="http://customschemas.google.com/relationships/presentationmetadata" Target="metadata"/><Relationship Id="rId12" Type="http://schemas.openxmlformats.org/officeDocument/2006/relationships/slide" Target="slides/slide5.xml"/><Relationship Id="rId34" Type="http://schemas.openxmlformats.org/officeDocument/2006/relationships/font" Target="fonts/BellMT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87f9e351f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287f9e351fd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3863451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438634512b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4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4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4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">
  <p:cSld name="Title and Three Columns 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6"/>
          <p:cNvSpPr/>
          <p:nvPr/>
        </p:nvSpPr>
        <p:spPr>
          <a:xfrm>
            <a:off x="-50800" y="400050"/>
            <a:ext cx="7050088" cy="9588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6"/>
          <p:cNvSpPr txBox="1"/>
          <p:nvPr>
            <p:ph type="title"/>
          </p:nvPr>
        </p:nvSpPr>
        <p:spPr>
          <a:xfrm>
            <a:off x="1063200" y="447164"/>
            <a:ext cx="7017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46"/>
          <p:cNvSpPr txBox="1"/>
          <p:nvPr>
            <p:ph idx="2" type="title"/>
          </p:nvPr>
        </p:nvSpPr>
        <p:spPr>
          <a:xfrm>
            <a:off x="1660812" y="3887967"/>
            <a:ext cx="1752000" cy="6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1" name="Google Shape;31;p46"/>
          <p:cNvSpPr txBox="1"/>
          <p:nvPr>
            <p:ph idx="1" type="subTitle"/>
          </p:nvPr>
        </p:nvSpPr>
        <p:spPr>
          <a:xfrm>
            <a:off x="1660812" y="4638100"/>
            <a:ext cx="1752000" cy="1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46"/>
          <p:cNvSpPr txBox="1"/>
          <p:nvPr>
            <p:ph idx="3" type="title"/>
          </p:nvPr>
        </p:nvSpPr>
        <p:spPr>
          <a:xfrm>
            <a:off x="3696004" y="3887967"/>
            <a:ext cx="1752000" cy="6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" name="Google Shape;33;p46"/>
          <p:cNvSpPr txBox="1"/>
          <p:nvPr>
            <p:ph idx="4" type="subTitle"/>
          </p:nvPr>
        </p:nvSpPr>
        <p:spPr>
          <a:xfrm>
            <a:off x="3696004" y="4638100"/>
            <a:ext cx="1752000" cy="1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46"/>
          <p:cNvSpPr txBox="1"/>
          <p:nvPr>
            <p:ph idx="5" type="title"/>
          </p:nvPr>
        </p:nvSpPr>
        <p:spPr>
          <a:xfrm>
            <a:off x="5731191" y="3887967"/>
            <a:ext cx="1752000" cy="6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46"/>
          <p:cNvSpPr txBox="1"/>
          <p:nvPr>
            <p:ph idx="6" type="subTitle"/>
          </p:nvPr>
        </p:nvSpPr>
        <p:spPr>
          <a:xfrm>
            <a:off x="5731191" y="4638100"/>
            <a:ext cx="1752000" cy="1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8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8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4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9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49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4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0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0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6" name="Google Shape;56;p50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50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8" name="Google Shape;58;p50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5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2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70" name="Google Shape;70;p52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71" name="Google Shape;71;p5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3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53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78" name="Google Shape;78;p5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4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5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5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5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5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1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1" name="Google Shape;121;p21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3" name="Google Shape;123;p21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39" name="Google Shape;139;p24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40" name="Google Shape;140;p2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5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47" name="Google Shape;147;p2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2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2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1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1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1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1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Relationship Id="rId4" Type="http://schemas.openxmlformats.org/officeDocument/2006/relationships/image" Target="../media/image25.jpg"/><Relationship Id="rId5" Type="http://schemas.openxmlformats.org/officeDocument/2006/relationships/image" Target="../media/image7.jpg"/><Relationship Id="rId6" Type="http://schemas.openxmlformats.org/officeDocument/2006/relationships/image" Target="../media/image1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jpg"/><Relationship Id="rId4" Type="http://schemas.openxmlformats.org/officeDocument/2006/relationships/image" Target="../media/image3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jpg"/><Relationship Id="rId4" Type="http://schemas.openxmlformats.org/officeDocument/2006/relationships/image" Target="../media/image27.jpg"/><Relationship Id="rId5" Type="http://schemas.openxmlformats.org/officeDocument/2006/relationships/image" Target="../media/image2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jpg"/><Relationship Id="rId4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16.jpg"/><Relationship Id="rId5" Type="http://schemas.openxmlformats.org/officeDocument/2006/relationships/image" Target="../media/image2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Relationship Id="rId4" Type="http://schemas.openxmlformats.org/officeDocument/2006/relationships/image" Target="../media/image25.jpg"/><Relationship Id="rId5" Type="http://schemas.openxmlformats.org/officeDocument/2006/relationships/image" Target="../media/image7.jpg"/><Relationship Id="rId6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2D050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87f9e351fd_0_5"/>
          <p:cNvSpPr txBox="1"/>
          <p:nvPr>
            <p:ph type="ctrTitle"/>
          </p:nvPr>
        </p:nvSpPr>
        <p:spPr>
          <a:xfrm>
            <a:off x="107950" y="1227138"/>
            <a:ext cx="8856538" cy="554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99FF"/>
              </a:buClr>
              <a:buSzPct val="100000"/>
              <a:buFont typeface="Kaushan Script"/>
              <a:buNone/>
            </a:pPr>
            <a:br>
              <a:rPr b="1" lang="es-ES" sz="5400">
                <a:solidFill>
                  <a:srgbClr val="3399FF"/>
                </a:solidFill>
                <a:latin typeface="Kaushan Script"/>
                <a:ea typeface="Kaushan Script"/>
                <a:cs typeface="Kaushan Script"/>
                <a:sym typeface="Kaushan Script"/>
              </a:rPr>
            </a:br>
            <a:r>
              <a:rPr b="1" lang="es-ES" sz="5400">
                <a:solidFill>
                  <a:schemeClr val="accent1"/>
                </a:solidFill>
                <a:latin typeface="Basic"/>
                <a:ea typeface="Basic"/>
                <a:cs typeface="Basic"/>
                <a:sym typeface="Basic"/>
              </a:rPr>
              <a:t>CURSO: PENSAMIENTO SOCIAL CRISTIANO</a:t>
            </a:r>
            <a:br>
              <a:rPr b="1" lang="es-ES" sz="5400">
                <a:solidFill>
                  <a:srgbClr val="3399FF"/>
                </a:solidFill>
                <a:latin typeface="Basic"/>
                <a:ea typeface="Basic"/>
                <a:cs typeface="Basic"/>
                <a:sym typeface="Basic"/>
              </a:rPr>
            </a:br>
            <a:r>
              <a:rPr b="1" lang="es-ES" sz="3600">
                <a:solidFill>
                  <a:srgbClr val="C00000"/>
                </a:solidFill>
                <a:latin typeface="Basic"/>
                <a:ea typeface="Basic"/>
                <a:cs typeface="Basic"/>
                <a:sym typeface="Basic"/>
              </a:rPr>
              <a:t>Prof. Pablo Gálvez Valencia</a:t>
            </a:r>
            <a:br>
              <a:rPr b="1" lang="es-ES" sz="5400">
                <a:solidFill>
                  <a:srgbClr val="3399FF"/>
                </a:solidFill>
                <a:latin typeface="Kaushan Script"/>
                <a:ea typeface="Kaushan Script"/>
                <a:cs typeface="Kaushan Script"/>
                <a:sym typeface="Kaushan Script"/>
              </a:rPr>
            </a:br>
            <a:br>
              <a:rPr b="1" lang="es-ES" sz="5400">
                <a:solidFill>
                  <a:srgbClr val="3399FF"/>
                </a:solidFill>
                <a:latin typeface="Kaushan Script"/>
                <a:ea typeface="Kaushan Script"/>
                <a:cs typeface="Kaushan Script"/>
                <a:sym typeface="Kaushan Script"/>
              </a:rPr>
            </a:br>
            <a:endParaRPr sz="5400">
              <a:solidFill>
                <a:srgbClr val="3399FF"/>
              </a:solidFill>
            </a:endParaRPr>
          </a:p>
        </p:txBody>
      </p:sp>
      <p:pic>
        <p:nvPicPr>
          <p:cNvPr descr="Descripción: Duoc UC" id="167" name="Google Shape;167;g287f9e351fd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312" y="476250"/>
            <a:ext cx="2332037" cy="75088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287f9e351fd_0_5"/>
          <p:cNvSpPr txBox="1"/>
          <p:nvPr/>
        </p:nvSpPr>
        <p:spPr>
          <a:xfrm>
            <a:off x="1156075" y="940525"/>
            <a:ext cx="735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C232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438634512b_0_0"/>
          <p:cNvSpPr txBox="1"/>
          <p:nvPr>
            <p:ph type="title"/>
          </p:nvPr>
        </p:nvSpPr>
        <p:spPr>
          <a:xfrm>
            <a:off x="-33174" y="517677"/>
            <a:ext cx="91773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lang="es-ES" sz="4000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PENSAMIENTO SOCIAL CRISTIANO </a:t>
            </a:r>
            <a:endParaRPr/>
          </a:p>
        </p:txBody>
      </p:sp>
      <p:sp>
        <p:nvSpPr>
          <p:cNvPr id="174" name="Google Shape;174;g3438634512b_0_0"/>
          <p:cNvSpPr txBox="1"/>
          <p:nvPr>
            <p:ph idx="2" type="title"/>
          </p:nvPr>
        </p:nvSpPr>
        <p:spPr>
          <a:xfrm>
            <a:off x="239025" y="3327000"/>
            <a:ext cx="2015400" cy="2194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>
              <a:highlight>
                <a:srgbClr val="00FF00"/>
              </a:highlight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>
              <a:highlight>
                <a:srgbClr val="00FF00"/>
              </a:highlight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>
              <a:highlight>
                <a:srgbClr val="00FF00"/>
              </a:highlight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sz="1800">
              <a:highlight>
                <a:srgbClr val="00FF00"/>
              </a:highlight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sz="1800">
              <a:highlight>
                <a:srgbClr val="00FF00"/>
              </a:highlight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s-ES" sz="2500">
                <a:highlight>
                  <a:srgbClr val="00FF00"/>
                </a:highlight>
              </a:rPr>
              <a:t>Nota</a:t>
            </a:r>
            <a:r>
              <a:rPr b="1" lang="es-ES" sz="25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1</a:t>
            </a:r>
            <a:endParaRPr b="1" sz="25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s-ES" sz="2500"/>
              <a:t>Semana 06</a:t>
            </a:r>
            <a:endParaRPr b="1" sz="2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ES" sz="25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Trios</a:t>
            </a:r>
            <a:endParaRPr b="1" sz="2500">
              <a:solidFill>
                <a:srgbClr val="FF000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s-ES" sz="3300">
                <a:latin typeface="Bell MT"/>
                <a:ea typeface="Bell MT"/>
                <a:cs typeface="Bell MT"/>
                <a:sym typeface="Bell MT"/>
              </a:rPr>
              <a:t>Infografía</a:t>
            </a:r>
            <a:endParaRPr b="1" sz="33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sz="2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75" name="Google Shape;175;g3438634512b_0_0"/>
          <p:cNvSpPr txBox="1"/>
          <p:nvPr>
            <p:ph idx="3" type="title"/>
          </p:nvPr>
        </p:nvSpPr>
        <p:spPr>
          <a:xfrm>
            <a:off x="2722375" y="3321000"/>
            <a:ext cx="2090700" cy="2194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>
              <a:highlight>
                <a:srgbClr val="00FF00"/>
              </a:highlight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>
              <a:highlight>
                <a:srgbClr val="00FF00"/>
              </a:highlight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>
              <a:highlight>
                <a:srgbClr val="00FF00"/>
              </a:highlight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s-ES" sz="3100">
                <a:highlight>
                  <a:srgbClr val="00FF00"/>
                </a:highlight>
              </a:rPr>
              <a:t>Nota 2</a:t>
            </a:r>
            <a:endParaRPr b="1" sz="3100">
              <a:highlight>
                <a:srgbClr val="00FF00"/>
              </a:highlight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s-ES" sz="2200">
                <a:highlight>
                  <a:schemeClr val="lt1"/>
                </a:highlight>
              </a:rPr>
              <a:t>Semana 11 </a:t>
            </a:r>
            <a:endParaRPr b="1" sz="2200">
              <a:highlight>
                <a:schemeClr val="lt1"/>
              </a:highlight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s-E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Trios</a:t>
            </a:r>
            <a:endParaRPr b="1" sz="2600">
              <a:solidFill>
                <a:srgbClr val="FF000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/>
              <a:t>“Análisis de una Noticia de hoy, aplicando contenidos” </a:t>
            </a:r>
            <a:endParaRPr b="1" sz="2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76" name="Google Shape;176;g3438634512b_0_0"/>
          <p:cNvSpPr txBox="1"/>
          <p:nvPr>
            <p:ph idx="5" type="title"/>
          </p:nvPr>
        </p:nvSpPr>
        <p:spPr>
          <a:xfrm>
            <a:off x="4987875" y="3254400"/>
            <a:ext cx="2483400" cy="22611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s-ES" sz="3000">
                <a:highlight>
                  <a:srgbClr val="00FF00"/>
                </a:highlight>
              </a:rPr>
              <a:t>Nota</a:t>
            </a:r>
            <a:r>
              <a:rPr b="1" lang="es-ES" sz="30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3</a:t>
            </a:r>
            <a:endParaRPr b="1" sz="30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s-ES" sz="2200">
                <a:highlight>
                  <a:schemeClr val="lt1"/>
                </a:highlight>
              </a:rPr>
              <a:t>PROMEDIO</a:t>
            </a:r>
            <a:endParaRPr b="1" sz="2200">
              <a:highlight>
                <a:schemeClr val="lt1"/>
              </a:highlight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s-ES" sz="2200">
                <a:highlight>
                  <a:schemeClr val="lt1"/>
                </a:highlight>
              </a:rPr>
              <a:t>ACTIVIDADES</a:t>
            </a:r>
            <a:br>
              <a:rPr b="1" lang="es-ES" sz="2200">
                <a:highlight>
                  <a:schemeClr val="lt1"/>
                </a:highlight>
              </a:rPr>
            </a:br>
            <a:r>
              <a:rPr b="1" lang="es-ES" sz="2200">
                <a:highlight>
                  <a:schemeClr val="lt1"/>
                </a:highlight>
              </a:rPr>
              <a:t>ON LINE</a:t>
            </a:r>
            <a:endParaRPr b="1" sz="22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E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Individual</a:t>
            </a:r>
            <a:endParaRPr b="1" sz="2200">
              <a:solidFill>
                <a:srgbClr val="FF0000"/>
              </a:solidFill>
            </a:endParaRPr>
          </a:p>
        </p:txBody>
      </p:sp>
      <p:pic>
        <p:nvPicPr>
          <p:cNvPr id="177" name="Google Shape;177;g3438634512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4865" y="3397056"/>
            <a:ext cx="1167962" cy="1197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" name="Google Shape;178;g3438634512b_0_0"/>
          <p:cNvGrpSpPr/>
          <p:nvPr/>
        </p:nvGrpSpPr>
        <p:grpSpPr>
          <a:xfrm>
            <a:off x="195101" y="5521483"/>
            <a:ext cx="8753808" cy="1240406"/>
            <a:chOff x="4040534" y="2305241"/>
            <a:chExt cx="7504980" cy="1617639"/>
          </a:xfrm>
        </p:grpSpPr>
        <p:pic>
          <p:nvPicPr>
            <p:cNvPr id="179" name="Google Shape;179;g3438634512b_0_0"/>
            <p:cNvPicPr preferRelativeResize="0"/>
            <p:nvPr/>
          </p:nvPicPr>
          <p:blipFill rotWithShape="1">
            <a:blip r:embed="rId4">
              <a:alphaModFix/>
            </a:blip>
            <a:srcRect b="5891" l="20286" r="21887" t="0"/>
            <a:stretch/>
          </p:blipFill>
          <p:spPr>
            <a:xfrm>
              <a:off x="4040534" y="2454942"/>
              <a:ext cx="1220626" cy="14679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g3438634512b_0_0"/>
            <p:cNvSpPr txBox="1"/>
            <p:nvPr/>
          </p:nvSpPr>
          <p:spPr>
            <a:xfrm>
              <a:off x="5387540" y="2511693"/>
              <a:ext cx="4891200" cy="12444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s-ES" sz="2400" u="none" cap="none" strike="noStrike">
                  <a:solidFill>
                    <a:srgbClr val="C00000"/>
                  </a:solidFill>
                  <a:highlight>
                    <a:srgbClr val="FFFF00"/>
                  </a:highlight>
                  <a:latin typeface="Bell MT"/>
                  <a:ea typeface="Bell MT"/>
                  <a:cs typeface="Bell MT"/>
                  <a:sym typeface="Bell MT"/>
                </a:rPr>
                <a:t>EXAMEN</a:t>
              </a:r>
              <a:r>
                <a:rPr b="1" i="0" lang="es-ES" sz="2400" u="none" cap="none" strike="noStrike">
                  <a:solidFill>
                    <a:srgbClr val="FF6600"/>
                  </a:solidFill>
                  <a:latin typeface="Bell MT"/>
                  <a:ea typeface="Bell MT"/>
                  <a:cs typeface="Bell MT"/>
                  <a:sym typeface="Bell MT"/>
                </a:rPr>
                <a:t>   </a:t>
              </a:r>
              <a:r>
                <a:rPr b="1" i="0" lang="es-ES" sz="2800" u="none" cap="none" strike="noStrike">
                  <a:solidFill>
                    <a:srgbClr val="FF6600"/>
                  </a:solidFill>
                  <a:latin typeface="Bell MT"/>
                  <a:ea typeface="Bell MT"/>
                  <a:cs typeface="Bell MT"/>
                  <a:sym typeface="Bell MT"/>
                </a:rPr>
                <a:t>Semana 17   </a:t>
              </a:r>
              <a:r>
                <a:rPr b="1" i="0" lang="es-ES" sz="2800" u="none" cap="none" strike="noStrike">
                  <a:solidFill>
                    <a:schemeClr val="dk1"/>
                  </a:solidFill>
                  <a:latin typeface="Bell MT"/>
                  <a:ea typeface="Bell MT"/>
                  <a:cs typeface="Bell MT"/>
                  <a:sym typeface="Bell MT"/>
                </a:rPr>
                <a:t>Elaborar</a:t>
              </a:r>
              <a:r>
                <a:rPr b="1" lang="es-ES" sz="2800">
                  <a:solidFill>
                    <a:schemeClr val="dk1"/>
                  </a:solidFill>
                  <a:latin typeface="Bell MT"/>
                  <a:ea typeface="Bell MT"/>
                  <a:cs typeface="Bell MT"/>
                  <a:sym typeface="Bell MT"/>
                </a:rPr>
                <a:t> un Podcast</a:t>
              </a:r>
              <a:r>
                <a:rPr b="1" lang="es-ES" sz="2800">
                  <a:solidFill>
                    <a:srgbClr val="FF6600"/>
                  </a:solidFill>
                  <a:latin typeface="Bell MT"/>
                  <a:ea typeface="Bell MT"/>
                  <a:cs typeface="Bell MT"/>
                  <a:sym typeface="Bell MT"/>
                </a:rPr>
                <a:t>  </a:t>
              </a:r>
              <a:r>
                <a:rPr b="1" lang="es-ES" sz="2800">
                  <a:solidFill>
                    <a:srgbClr val="FF0000"/>
                  </a:solidFill>
                  <a:latin typeface="Bell MT"/>
                  <a:ea typeface="Bell MT"/>
                  <a:cs typeface="Bell MT"/>
                  <a:sym typeface="Bell MT"/>
                </a:rPr>
                <a:t>Trios</a:t>
              </a:r>
              <a:endParaRPr b="1" i="0" sz="2400" u="none" cap="none" strike="noStrik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endParaRPr>
            </a:p>
          </p:txBody>
        </p:sp>
        <p:pic>
          <p:nvPicPr>
            <p:cNvPr id="181" name="Google Shape;181;g3438634512b_0_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454212" y="2305241"/>
              <a:ext cx="1091302" cy="15908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2" name="Google Shape;182;g3438634512b_0_0"/>
          <p:cNvSpPr txBox="1"/>
          <p:nvPr/>
        </p:nvSpPr>
        <p:spPr>
          <a:xfrm>
            <a:off x="219932" y="1824661"/>
            <a:ext cx="2090700" cy="1293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C0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Unidad 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Principios y Valores Sociales de la DSI.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Familia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438634512b_0_0"/>
          <p:cNvSpPr txBox="1"/>
          <p:nvPr/>
        </p:nvSpPr>
        <p:spPr>
          <a:xfrm>
            <a:off x="2722284" y="1852329"/>
            <a:ext cx="2188200" cy="1293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C0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Unidad 2: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dignidad humana.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Trabajo, ser buen profesional.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438634512b_0_0"/>
          <p:cNvSpPr txBox="1"/>
          <p:nvPr/>
        </p:nvSpPr>
        <p:spPr>
          <a:xfrm>
            <a:off x="5108207" y="1873165"/>
            <a:ext cx="2483400" cy="1293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C0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Unidad 3: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 rol en la política. La Política y el Destino Universal de los bienes.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/>
          <p:nvPr>
            <p:ph type="ctrTitle"/>
          </p:nvPr>
        </p:nvSpPr>
        <p:spPr>
          <a:xfrm>
            <a:off x="4812030" y="640081"/>
            <a:ext cx="3877371" cy="55744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700"/>
              <a:buFont typeface="Calibri"/>
              <a:buNone/>
            </a:pPr>
            <a:r>
              <a:rPr b="1" lang="es-ES" sz="3700">
                <a:solidFill>
                  <a:srgbClr val="FF0000"/>
                </a:solidFill>
              </a:rPr>
              <a:t>SEMANA 3</a:t>
            </a:r>
            <a:br>
              <a:rPr b="1" lang="es-ES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s-ES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s-ES" sz="37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PRINCIPIOS</a:t>
            </a:r>
            <a:r>
              <a:rPr b="1" lang="es-ES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1" lang="es-ES" sz="37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VALORES SOCIALES</a:t>
            </a:r>
            <a:r>
              <a:rPr b="1" lang="es-ES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FUNDAMENTALES QUE ESTÁN PRESENTES EN</a:t>
            </a:r>
            <a:r>
              <a:rPr b="1" lang="es-ES" sz="3700"/>
              <a:t> LA</a:t>
            </a:r>
            <a:r>
              <a:rPr b="1" lang="es-ES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DOCTRINA SOCIAL DE LA IGLESIA</a:t>
            </a:r>
            <a:endParaRPr/>
          </a:p>
        </p:txBody>
      </p:sp>
      <p:pic>
        <p:nvPicPr>
          <p:cNvPr descr="Imagen que contiene dibujo&#10;&#10;Descripción generada automáticamente" id="190" name="Google Shape;190;p8"/>
          <p:cNvPicPr preferRelativeResize="0"/>
          <p:nvPr/>
        </p:nvPicPr>
        <p:blipFill rotWithShape="1">
          <a:blip r:embed="rId3">
            <a:alphaModFix/>
          </a:blip>
          <a:srcRect b="0" l="15677" r="16314" t="0"/>
          <a:stretch/>
        </p:blipFill>
        <p:spPr>
          <a:xfrm>
            <a:off x="482600" y="689420"/>
            <a:ext cx="4089400" cy="547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/>
          <p:nvPr/>
        </p:nvSpPr>
        <p:spPr>
          <a:xfrm>
            <a:off x="0" y="33501"/>
            <a:ext cx="9143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4"/>
          <p:cNvSpPr txBox="1"/>
          <p:nvPr>
            <p:ph type="title"/>
          </p:nvPr>
        </p:nvSpPr>
        <p:spPr>
          <a:xfrm>
            <a:off x="596646" y="386930"/>
            <a:ext cx="7606349" cy="1300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200"/>
              <a:buFont typeface="Calibri"/>
              <a:buNone/>
            </a:pPr>
            <a:r>
              <a:rPr b="1" lang="es-ES" sz="4200">
                <a:solidFill>
                  <a:srgbClr val="FF0000"/>
                </a:solidFill>
              </a:rPr>
              <a:t>APRENDIZAJES ESPERADOS</a:t>
            </a:r>
            <a:endParaRPr/>
          </a:p>
        </p:txBody>
      </p:sp>
      <p:sp>
        <p:nvSpPr>
          <p:cNvPr id="197" name="Google Shape;197;p14"/>
          <p:cNvSpPr/>
          <p:nvPr/>
        </p:nvSpPr>
        <p:spPr>
          <a:xfrm rot="10800000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218733" y="3406823"/>
            <a:ext cx="8372211" cy="306424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200" u="none" cap="none" strike="noStrike">
                <a:solidFill>
                  <a:srgbClr val="E21414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Identificar</a:t>
            </a:r>
            <a:r>
              <a:rPr b="1" i="0" lang="es-ES" sz="3200" u="none" cap="none" strike="noStrike">
                <a:solidFill>
                  <a:srgbClr val="1F274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 en diversas situaciones de la vida cotidiana </a:t>
            </a:r>
            <a:r>
              <a:rPr b="1" i="0" lang="es-ES" sz="3200" u="none" cap="none" strike="noStrike">
                <a:solidFill>
                  <a:srgbClr val="E21414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los principios y valores sociales</a:t>
            </a:r>
            <a:r>
              <a:rPr b="1" i="0" lang="es-ES" sz="3200" u="none" cap="none" strike="noStrike">
                <a:solidFill>
                  <a:srgbClr val="1F274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 de la </a:t>
            </a:r>
            <a:r>
              <a:rPr b="1" i="0" lang="es-ES" sz="3200" u="none" cap="none" strike="noStrike">
                <a:solidFill>
                  <a:srgbClr val="E21414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Doctrina Social de la Iglesia</a:t>
            </a:r>
            <a:r>
              <a:rPr b="1" i="0" lang="es-ES" sz="3200" u="none" cap="none" strike="noStrike">
                <a:solidFill>
                  <a:srgbClr val="1F274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 y el llamado a construir una sociedad mejor.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1F2741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200" u="none" cap="none" strike="noStrike">
                <a:solidFill>
                  <a:srgbClr val="E21414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Logro: Reconoce</a:t>
            </a:r>
            <a:r>
              <a:rPr b="1" i="0" lang="es-ES" sz="3200" u="none" cap="none" strike="noStrike">
                <a:solidFill>
                  <a:srgbClr val="26334B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 principios y valores de la Doctrina Social de la Iglesia y su aporte a la construcción de una sociedad mejor.</a:t>
            </a:r>
            <a:endParaRPr b="0" i="0" sz="3200" u="none" cap="none" strike="noStrike">
              <a:solidFill>
                <a:srgbClr val="1F2741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1F2741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</p:txBody>
      </p:sp>
      <p:sp>
        <p:nvSpPr>
          <p:cNvPr id="199" name="Google Shape;199;p14"/>
          <p:cNvSpPr/>
          <p:nvPr/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4"/>
          <p:cNvSpPr txBox="1"/>
          <p:nvPr>
            <p:ph idx="1" type="body"/>
          </p:nvPr>
        </p:nvSpPr>
        <p:spPr>
          <a:xfrm>
            <a:off x="53798" y="2389218"/>
            <a:ext cx="8230539" cy="4755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idx="1" type="body"/>
          </p:nvPr>
        </p:nvSpPr>
        <p:spPr>
          <a:xfrm>
            <a:off x="194873" y="1289154"/>
            <a:ext cx="8829206" cy="5366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6000">
              <a:solidFill>
                <a:srgbClr val="26334B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b="1" lang="es-ES" sz="6000">
                <a:solidFill>
                  <a:srgbClr val="26334B"/>
                </a:solidFill>
              </a:rPr>
              <a:t>¿Cuáles son los </a:t>
            </a:r>
            <a:r>
              <a:rPr b="1" lang="es-ES" sz="6000">
                <a:solidFill>
                  <a:srgbClr val="26334B"/>
                </a:solidFill>
                <a:highlight>
                  <a:srgbClr val="00FF00"/>
                </a:highlight>
              </a:rPr>
              <a:t>principios</a:t>
            </a:r>
            <a:r>
              <a:rPr b="1" lang="es-ES" sz="6000">
                <a:solidFill>
                  <a:srgbClr val="26334B"/>
                </a:solidFill>
              </a:rPr>
              <a:t> y </a:t>
            </a:r>
            <a:r>
              <a:rPr b="1" lang="es-ES" sz="6000">
                <a:solidFill>
                  <a:srgbClr val="26334B"/>
                </a:solidFill>
                <a:highlight>
                  <a:srgbClr val="00FF00"/>
                </a:highlight>
              </a:rPr>
              <a:t>valores</a:t>
            </a:r>
            <a:r>
              <a:rPr b="1" lang="es-ES" sz="6000">
                <a:solidFill>
                  <a:srgbClr val="26334B"/>
                </a:solidFill>
              </a:rPr>
              <a:t> de la Doctrina Social de la Iglesia?</a:t>
            </a:r>
            <a:endParaRPr sz="6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tipo&#10;&#10;Descripción generada automáticamente con confianza baja" id="210" name="Google Shape;21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754" y="339250"/>
            <a:ext cx="2255124" cy="1125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pción generada automáticamente" id="211" name="Google Shape;21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0761" y="643608"/>
            <a:ext cx="2308485" cy="51700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9"/>
          <p:cNvSpPr txBox="1"/>
          <p:nvPr/>
        </p:nvSpPr>
        <p:spPr>
          <a:xfrm>
            <a:off x="1244181" y="1464970"/>
            <a:ext cx="715030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Principios y valores sociales de la Doctrina Social de la Iglesia.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3" name="Google Shape;213;p29"/>
          <p:cNvGraphicFramePr/>
          <p:nvPr/>
        </p:nvGraphicFramePr>
        <p:xfrm>
          <a:off x="651881" y="26751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{C6AE1818-30DF-4590-91ED-AA444F3D80CD}</a:tableStyleId>
              </a:tblPr>
              <a:tblGrid>
                <a:gridCol w="4058700"/>
                <a:gridCol w="4058700"/>
              </a:tblGrid>
              <a:tr h="1368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Los Principios Sociales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Valores Sociales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55817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s-ES" sz="1400" u="none" cap="none" strike="noStrike"/>
                        <a:t>Principio de la Dignidad Humana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s-ES" sz="1400" u="none" cap="none" strike="noStrike"/>
                        <a:t>Principio del Bien Común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s-ES" sz="1400" u="none" cap="none" strike="noStrike"/>
                        <a:t>Principio del Destino Universal de los Bienes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s-ES" sz="1400" u="none" cap="none" strike="noStrike"/>
                        <a:t>Principio de la Subsidiaridad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s-ES" sz="1400" u="none" cap="none" strike="noStrike"/>
                        <a:t>Principio la Participación Ciudadana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s-ES" sz="1400" u="none" cap="none" strike="noStrike"/>
                        <a:t>Principio de la Solidaridad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s-ES" sz="1400" u="none" cap="none" strike="noStrike"/>
                        <a:t>Verdad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s-ES" sz="1400" u="none" cap="none" strike="noStrike"/>
                        <a:t>Libertad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s-ES" sz="1400" u="none" cap="none" strike="noStrike"/>
                        <a:t>Justicia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s-ES" sz="1400" u="none" cap="none" strike="noStrike"/>
                        <a:t>Caridad (Amor)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type="title"/>
          </p:nvPr>
        </p:nvSpPr>
        <p:spPr>
          <a:xfrm>
            <a:off x="628650" y="116632"/>
            <a:ext cx="8047806" cy="1055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Calibri"/>
              <a:buNone/>
            </a:pPr>
            <a:br>
              <a:rPr b="1" lang="es-ES">
                <a:solidFill>
                  <a:srgbClr val="FF0000"/>
                </a:solidFill>
                <a:highlight>
                  <a:srgbClr val="FFFF00"/>
                </a:highlight>
              </a:rPr>
            </a:br>
            <a:r>
              <a:rPr b="1" lang="es-ES" u="sng">
                <a:solidFill>
                  <a:srgbClr val="FF0000"/>
                </a:solidFill>
                <a:highlight>
                  <a:srgbClr val="FFFF00"/>
                </a:highlight>
              </a:rPr>
              <a:t>LA PERSONA, IMAGEN DE DIOS Y LOS DD.HH.</a:t>
            </a:r>
            <a:endParaRPr/>
          </a:p>
        </p:txBody>
      </p:sp>
      <p:sp>
        <p:nvSpPr>
          <p:cNvPr id="220" name="Google Shape;220;p35"/>
          <p:cNvSpPr txBox="1"/>
          <p:nvPr>
            <p:ph idx="1" type="body"/>
          </p:nvPr>
        </p:nvSpPr>
        <p:spPr>
          <a:xfrm>
            <a:off x="137161" y="1772816"/>
            <a:ext cx="4444512" cy="5000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s-ES">
                <a:highlight>
                  <a:srgbClr val="00FF00"/>
                </a:highlight>
              </a:rPr>
              <a:t>1. EL SER HUMANO CREADO A IMAGEN Y SEMEJANZA DE DIOS.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s-ES">
                <a:highlight>
                  <a:srgbClr val="00FF00"/>
                </a:highlight>
              </a:rPr>
              <a:t>(Gen 1, 26)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>
              <a:highlight>
                <a:srgbClr val="00FF00"/>
              </a:highlight>
            </a:endParaRPr>
          </a:p>
          <a:p>
            <a:pPr indent="0" lvl="0" marL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  <a:p>
            <a:pPr indent="0" lvl="0" marL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2100"/>
              <a:buNone/>
            </a:pPr>
            <a:r>
              <a:rPr b="1" lang="es-ES">
                <a:solidFill>
                  <a:srgbClr val="FF0000"/>
                </a:solidFill>
                <a:highlight>
                  <a:srgbClr val="FFFF00"/>
                </a:highlight>
              </a:rPr>
              <a:t>¿EN QUÉ NOS PARECEMOS A DIOS?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2100"/>
              <a:buNone/>
            </a:pPr>
            <a:r>
              <a:rPr lang="es-ES">
                <a:solidFill>
                  <a:srgbClr val="FF0000"/>
                </a:solidFill>
              </a:rPr>
              <a:t>EN NUESTRA CAPACIDAD </a:t>
            </a:r>
            <a:r>
              <a:rPr b="1" lang="es-ES">
                <a:solidFill>
                  <a:srgbClr val="FF0000"/>
                </a:solidFill>
                <a:highlight>
                  <a:srgbClr val="FFFF00"/>
                </a:highlight>
              </a:rPr>
              <a:t>DE AMAR</a:t>
            </a:r>
            <a:r>
              <a:rPr lang="es-ES">
                <a:solidFill>
                  <a:srgbClr val="FF0000"/>
                </a:solidFill>
              </a:rPr>
              <a:t>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2100"/>
              <a:buNone/>
            </a:pPr>
            <a:r>
              <a:rPr lang="es-ES">
                <a:solidFill>
                  <a:srgbClr val="FF0000"/>
                </a:solidFill>
              </a:rPr>
              <a:t>DE </a:t>
            </a:r>
            <a:r>
              <a:rPr b="1" lang="es-ES">
                <a:solidFill>
                  <a:srgbClr val="FF0000"/>
                </a:solidFill>
                <a:highlight>
                  <a:srgbClr val="FFFF00"/>
                </a:highlight>
              </a:rPr>
              <a:t>DARNOS</a:t>
            </a:r>
            <a:r>
              <a:rPr lang="es-ES">
                <a:solidFill>
                  <a:srgbClr val="FF0000"/>
                </a:solidFill>
              </a:rPr>
              <a:t> POR ENTERO,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2100"/>
              <a:buNone/>
            </a:pPr>
            <a:r>
              <a:rPr lang="es-ES">
                <a:solidFill>
                  <a:srgbClr val="FF0000"/>
                </a:solidFill>
              </a:rPr>
              <a:t>DE ENTREGARNOS…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209550" lvl="0" marL="3429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209550" lvl="0" marL="3429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209550" lvl="0" marL="3429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descr="Amor al projimo – Diseños exclusivos LDG" id="221" name="Google Shape;22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1273" y="1891225"/>
            <a:ext cx="4385567" cy="42020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or al projimo – Diseños exclusivos LDG" id="222" name="Google Shape;22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6536" y="1891225"/>
            <a:ext cx="4190303" cy="4014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type="title"/>
          </p:nvPr>
        </p:nvSpPr>
        <p:spPr>
          <a:xfrm>
            <a:off x="628650" y="365127"/>
            <a:ext cx="7886700" cy="8316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s-ES" u="sng">
                <a:highlight>
                  <a:srgbClr val="00FF00"/>
                </a:highlight>
              </a:rPr>
              <a:t>LA PERSONA HUMANA</a:t>
            </a:r>
            <a:endParaRPr/>
          </a:p>
        </p:txBody>
      </p:sp>
      <p:sp>
        <p:nvSpPr>
          <p:cNvPr id="228" name="Google Shape;228;p36"/>
          <p:cNvSpPr txBox="1"/>
          <p:nvPr>
            <p:ph idx="1" type="body"/>
          </p:nvPr>
        </p:nvSpPr>
        <p:spPr>
          <a:xfrm>
            <a:off x="141512" y="1844824"/>
            <a:ext cx="3206351" cy="4300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s-ES" sz="4000">
                <a:highlight>
                  <a:srgbClr val="FFFF00"/>
                </a:highlight>
              </a:rPr>
              <a:t>DEFINICIÓN: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s-ES" sz="4000"/>
              <a:t>Es todo </a:t>
            </a:r>
            <a:r>
              <a:rPr lang="es-ES" sz="4000">
                <a:solidFill>
                  <a:srgbClr val="FF0000"/>
                </a:solidFill>
                <a:highlight>
                  <a:srgbClr val="FFFF00"/>
                </a:highlight>
              </a:rPr>
              <a:t>ser </a:t>
            </a:r>
            <a:r>
              <a:rPr lang="es-ES" sz="4000"/>
              <a:t>humano </a:t>
            </a:r>
            <a:r>
              <a:rPr lang="es-ES" sz="4000">
                <a:highlight>
                  <a:srgbClr val="FFFF00"/>
                </a:highlight>
              </a:rPr>
              <a:t>racional</a:t>
            </a:r>
            <a:r>
              <a:rPr lang="es-ES" sz="4000"/>
              <a:t> y </a:t>
            </a:r>
            <a:r>
              <a:rPr lang="es-ES" sz="4000">
                <a:highlight>
                  <a:srgbClr val="FFFF00"/>
                </a:highlight>
              </a:rPr>
              <a:t>espiritual</a:t>
            </a:r>
            <a:r>
              <a:rPr lang="es-ES" sz="4000"/>
              <a:t> que </a:t>
            </a:r>
            <a:r>
              <a:rPr lang="es-ES" sz="4000">
                <a:solidFill>
                  <a:srgbClr val="FF0000"/>
                </a:solidFill>
                <a:highlight>
                  <a:srgbClr val="FFFF00"/>
                </a:highlight>
              </a:rPr>
              <a:t>tiene </a:t>
            </a:r>
            <a:r>
              <a:rPr lang="es-ES" sz="4000" u="sng">
                <a:solidFill>
                  <a:srgbClr val="FF0000"/>
                </a:solidFill>
                <a:highlight>
                  <a:srgbClr val="00FF00"/>
                </a:highlight>
              </a:rPr>
              <a:t>dignidad</a:t>
            </a:r>
            <a:r>
              <a:rPr lang="es-ES" sz="4000" u="sng"/>
              <a:t>.</a:t>
            </a:r>
            <a:endParaRPr/>
          </a:p>
        </p:txBody>
      </p:sp>
      <p:pic>
        <p:nvPicPr>
          <p:cNvPr descr="Persona humana" id="229" name="Google Shape;22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5935" y="1844825"/>
            <a:ext cx="5006551" cy="3758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type="title"/>
          </p:nvPr>
        </p:nvSpPr>
        <p:spPr>
          <a:xfrm>
            <a:off x="66532" y="3573017"/>
            <a:ext cx="1567396" cy="3024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s-ES" sz="2400">
                <a:highlight>
                  <a:srgbClr val="00FF00"/>
                </a:highlight>
              </a:rPr>
              <a:t>  </a:t>
            </a:r>
            <a:br>
              <a:rPr b="1" lang="es-ES" sz="2400">
                <a:highlight>
                  <a:srgbClr val="00FF00"/>
                </a:highlight>
              </a:rPr>
            </a:br>
            <a:r>
              <a:rPr b="1" lang="es-ES" sz="2400">
                <a:highlight>
                  <a:srgbClr val="00FF00"/>
                </a:highlight>
              </a:rPr>
              <a:t>1. PRINCIPIO</a:t>
            </a:r>
            <a:br>
              <a:rPr b="1" lang="es-ES" sz="2400">
                <a:highlight>
                  <a:srgbClr val="00FF00"/>
                </a:highlight>
              </a:rPr>
            </a:br>
            <a:r>
              <a:rPr b="1" lang="es-ES" sz="2400">
                <a:highlight>
                  <a:srgbClr val="00FF00"/>
                </a:highlight>
              </a:rPr>
              <a:t>DE LA DIGNIDAD HUMANA</a:t>
            </a:r>
            <a:endParaRPr/>
          </a:p>
        </p:txBody>
      </p:sp>
      <p:pic>
        <p:nvPicPr>
          <p:cNvPr descr="Vientos de ilusión - El Sol News Media" id="235" name="Google Shape;235;p37"/>
          <p:cNvPicPr preferRelativeResize="0"/>
          <p:nvPr/>
        </p:nvPicPr>
        <p:blipFill rotWithShape="1">
          <a:blip r:embed="rId3">
            <a:alphaModFix/>
          </a:blip>
          <a:srcRect b="18910" l="0" r="0" t="19605"/>
          <a:stretch/>
        </p:blipFill>
        <p:spPr>
          <a:xfrm>
            <a:off x="20" y="10"/>
            <a:ext cx="9143980" cy="3710603"/>
          </a:xfrm>
          <a:custGeom>
            <a:rect b="b" l="l" r="r" t="t"/>
            <a:pathLst>
              <a:path extrusionOk="0" h="3692092" w="12192000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36" name="Google Shape;236;p37"/>
          <p:cNvSpPr txBox="1"/>
          <p:nvPr>
            <p:ph idx="1" type="body"/>
          </p:nvPr>
        </p:nvSpPr>
        <p:spPr>
          <a:xfrm>
            <a:off x="1633928" y="3573015"/>
            <a:ext cx="7330560" cy="3024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00"/>
              <a:buNone/>
            </a:pPr>
            <a:r>
              <a:rPr b="1" lang="es-ES" sz="26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Es el </a:t>
            </a:r>
            <a:r>
              <a:rPr b="1" lang="es-ES" sz="2600" u="sng">
                <a:solidFill>
                  <a:srgbClr val="FF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valor intrínseco</a:t>
            </a:r>
            <a:r>
              <a:rPr b="1" lang="es-ES" sz="26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que tiene toda persona humana por el </a:t>
            </a:r>
            <a:r>
              <a:rPr b="1" lang="es-ES" sz="2600" u="sng">
                <a:solidFill>
                  <a:srgbClr val="FF0000"/>
                </a:solidFill>
              </a:rPr>
              <a:t>simple </a:t>
            </a:r>
            <a:r>
              <a:rPr b="1" lang="es-ES" sz="26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hecho de existir.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b="1" lang="es-ES" sz="2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¿Qué nos hace tan valiosos?</a:t>
            </a:r>
            <a:endParaRPr b="1" sz="2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2600"/>
              <a:buChar char="•"/>
            </a:pPr>
            <a:r>
              <a:rPr b="1" lang="es-ES" sz="2600">
                <a:solidFill>
                  <a:srgbClr val="FF0000"/>
                </a:solidFill>
              </a:rPr>
              <a:t>Todos s</a:t>
            </a:r>
            <a:r>
              <a:rPr b="1" lang="es-ES" sz="2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omos únicos e irrepetibles. </a:t>
            </a:r>
            <a:endParaRPr/>
          </a:p>
          <a:p>
            <a:pPr indent="-171450" lvl="0" marL="17145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2600"/>
              <a:buChar char="•"/>
            </a:pPr>
            <a:r>
              <a:rPr b="1" lang="es-ES" sz="2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Esta experiencia nos indica que somos irremplazables.  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/>
          <p:nvPr/>
        </p:nvSpPr>
        <p:spPr>
          <a:xfrm>
            <a:off x="0" y="0"/>
            <a:ext cx="9141713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8"/>
          <p:cNvSpPr txBox="1"/>
          <p:nvPr>
            <p:ph type="title"/>
          </p:nvPr>
        </p:nvSpPr>
        <p:spPr>
          <a:xfrm>
            <a:off x="628650" y="728663"/>
            <a:ext cx="2839134" cy="14041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lang="es-ES" sz="4500">
                <a:highlight>
                  <a:srgbClr val="FFFF00"/>
                </a:highlight>
              </a:rPr>
              <a:t>EL BIEN COMÚN</a:t>
            </a:r>
            <a:endParaRPr/>
          </a:p>
        </p:txBody>
      </p:sp>
      <p:pic>
        <p:nvPicPr>
          <p:cNvPr descr="PlanBIKO por el Bien Komún.: ¿Existe el Bien Común?" id="243" name="Google Shape;243;p38"/>
          <p:cNvPicPr preferRelativeResize="0"/>
          <p:nvPr/>
        </p:nvPicPr>
        <p:blipFill rotWithShape="1">
          <a:blip r:embed="rId3">
            <a:alphaModFix/>
          </a:blip>
          <a:srcRect b="0" l="8327" r="13123" t="0"/>
          <a:stretch/>
        </p:blipFill>
        <p:spPr>
          <a:xfrm>
            <a:off x="3757128" y="10"/>
            <a:ext cx="538687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8"/>
          <p:cNvSpPr txBox="1"/>
          <p:nvPr>
            <p:ph idx="1" type="body"/>
          </p:nvPr>
        </p:nvSpPr>
        <p:spPr>
          <a:xfrm>
            <a:off x="436722" y="2420888"/>
            <a:ext cx="2839134" cy="4320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es-ES" sz="2400">
                <a:solidFill>
                  <a:srgbClr val="FF0000"/>
                </a:solidFill>
              </a:rPr>
              <a:t>“Es el </a:t>
            </a:r>
            <a:r>
              <a:rPr b="1" lang="es-ES" sz="2400" u="sng">
                <a:solidFill>
                  <a:srgbClr val="FF0000"/>
                </a:solidFill>
                <a:highlight>
                  <a:srgbClr val="FFFF00"/>
                </a:highlight>
              </a:rPr>
              <a:t>conjunto de condiciones </a:t>
            </a:r>
            <a:r>
              <a:rPr b="1" lang="es-ES" sz="2400">
                <a:solidFill>
                  <a:srgbClr val="FF0000"/>
                </a:solidFill>
              </a:rPr>
              <a:t>de la vida social que hacen posible a las asociaciones y a cada uno de sus miembros que  se desarrollen de manera integral, en el </a:t>
            </a:r>
            <a:r>
              <a:rPr b="1" lang="es-ES" sz="2400" u="sng">
                <a:solidFill>
                  <a:srgbClr val="FF0000"/>
                </a:solidFill>
                <a:highlight>
                  <a:srgbClr val="FFFF00"/>
                </a:highlight>
              </a:rPr>
              <a:t>logro más pleno y más fácil de la propia perfección</a:t>
            </a:r>
            <a:r>
              <a:rPr b="1" lang="es-ES" sz="2400">
                <a:solidFill>
                  <a:srgbClr val="FF0000"/>
                </a:solidFill>
              </a:rPr>
              <a:t>”</a:t>
            </a:r>
            <a:endParaRPr b="1" sz="2400">
              <a:solidFill>
                <a:srgbClr val="FF0000"/>
              </a:solidFill>
            </a:endParaRPr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dio ambiente y distribución de los bienes – ÉTICA SOCIAL" id="249" name="Google Shape;249;p39"/>
          <p:cNvPicPr preferRelativeResize="0"/>
          <p:nvPr/>
        </p:nvPicPr>
        <p:blipFill rotWithShape="1">
          <a:blip r:embed="rId3">
            <a:alphaModFix/>
          </a:blip>
          <a:srcRect b="-1" l="17584" r="25563" t="0"/>
          <a:stretch/>
        </p:blipFill>
        <p:spPr>
          <a:xfrm>
            <a:off x="4348157" y="10"/>
            <a:ext cx="4795614" cy="5143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9"/>
          <p:cNvSpPr txBox="1"/>
          <p:nvPr>
            <p:ph type="title"/>
          </p:nvPr>
        </p:nvSpPr>
        <p:spPr>
          <a:xfrm>
            <a:off x="179513" y="332656"/>
            <a:ext cx="4026964" cy="1256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Calibri"/>
              <a:buNone/>
            </a:pPr>
            <a:r>
              <a:rPr b="1" lang="es-ES" u="sng">
                <a:solidFill>
                  <a:srgbClr val="FF0000"/>
                </a:solidFill>
                <a:highlight>
                  <a:srgbClr val="FFFF00"/>
                </a:highlight>
              </a:rPr>
              <a:t>DESTINO UNIVERSAL DE  LOS BIENES</a:t>
            </a:r>
            <a:endParaRPr/>
          </a:p>
        </p:txBody>
      </p:sp>
      <p:sp>
        <p:nvSpPr>
          <p:cNvPr id="252" name="Google Shape;252;p39"/>
          <p:cNvSpPr txBox="1"/>
          <p:nvPr>
            <p:ph idx="1" type="body"/>
          </p:nvPr>
        </p:nvSpPr>
        <p:spPr>
          <a:xfrm>
            <a:off x="179513" y="1588957"/>
            <a:ext cx="4512376" cy="35545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s-ES" sz="2800">
                <a:solidFill>
                  <a:srgbClr val="000000"/>
                </a:solidFill>
              </a:rPr>
              <a:t>El destino Universal de los bienes tiene relación con el </a:t>
            </a:r>
            <a:r>
              <a:rPr b="1" lang="es-ES" sz="2800" u="sng">
                <a:solidFill>
                  <a:srgbClr val="000000"/>
                </a:solidFill>
                <a:highlight>
                  <a:srgbClr val="FFFF00"/>
                </a:highlight>
              </a:rPr>
              <a:t>buen uso de las cosas materiales</a:t>
            </a:r>
            <a:r>
              <a:rPr b="1" lang="es-ES" sz="2800">
                <a:solidFill>
                  <a:srgbClr val="000000"/>
                </a:solidFill>
              </a:rPr>
              <a:t>, pensar siempre que </a:t>
            </a:r>
            <a:r>
              <a:rPr b="1" lang="es-ES" sz="2800" u="sng">
                <a:solidFill>
                  <a:srgbClr val="000000"/>
                </a:solidFill>
                <a:highlight>
                  <a:srgbClr val="FFFF00"/>
                </a:highlight>
              </a:rPr>
              <a:t>vivimos en comunidad </a:t>
            </a:r>
            <a:r>
              <a:rPr b="1" lang="es-ES" sz="2800">
                <a:solidFill>
                  <a:srgbClr val="000000"/>
                </a:solidFill>
              </a:rPr>
              <a:t>y que lo que tenga como propiedad está para compartirlos con otros.</a:t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0"/>
          <p:cNvSpPr txBox="1"/>
          <p:nvPr>
            <p:ph type="title"/>
          </p:nvPr>
        </p:nvSpPr>
        <p:spPr>
          <a:xfrm>
            <a:off x="486696" y="1"/>
            <a:ext cx="3708114" cy="980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None/>
            </a:pPr>
            <a:r>
              <a:rPr b="1" lang="es-ES" u="sng">
                <a:solidFill>
                  <a:srgbClr val="FF0000"/>
                </a:solidFill>
                <a:highlight>
                  <a:srgbClr val="00FFFF"/>
                </a:highlight>
              </a:rPr>
              <a:t>PRINCIPIO DE LA SUBSIDIARIDAD</a:t>
            </a:r>
            <a:endParaRPr u="sng">
              <a:solidFill>
                <a:srgbClr val="FF0000"/>
              </a:solidFill>
            </a:endParaRPr>
          </a:p>
        </p:txBody>
      </p:sp>
      <p:sp>
        <p:nvSpPr>
          <p:cNvPr id="258" name="Google Shape;258;p40"/>
          <p:cNvSpPr txBox="1"/>
          <p:nvPr>
            <p:ph idx="1" type="body"/>
          </p:nvPr>
        </p:nvSpPr>
        <p:spPr>
          <a:xfrm>
            <a:off x="179512" y="1109266"/>
            <a:ext cx="4390199" cy="5632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s-ES" sz="1800"/>
              <a:t>La subsidiaridad es </a:t>
            </a:r>
            <a:r>
              <a:rPr lang="es-ES" sz="1800"/>
              <a:t>la coordinación de las actividades de la sociedad en </a:t>
            </a:r>
            <a:r>
              <a:rPr lang="es-ES" sz="1800" u="sng">
                <a:highlight>
                  <a:srgbClr val="FFFF00"/>
                </a:highlight>
              </a:rPr>
              <a:t>apoyo de la vida de los individuos y las comunidades locales</a:t>
            </a:r>
            <a:r>
              <a:rPr lang="es-ES" sz="1800">
                <a:highlight>
                  <a:srgbClr val="FFFF00"/>
                </a:highlight>
              </a:rPr>
              <a:t>, </a:t>
            </a:r>
            <a:r>
              <a:rPr lang="es-ES" sz="1800"/>
              <a:t>es decir, es una ayuda que se presta a las personas o grupos intermedios por parte de instancias superiores de modo de promocionarles lo necesario para que estos realicen sus propias actividades, con libertad.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s-ES" sz="1800"/>
              <a:t>La subsidiaridad </a:t>
            </a:r>
            <a:r>
              <a:rPr b="1" lang="es-ES" sz="1800" u="sng">
                <a:highlight>
                  <a:srgbClr val="FFFF00"/>
                </a:highlight>
              </a:rPr>
              <a:t>es una ayuda a la persona</a:t>
            </a:r>
            <a:r>
              <a:rPr b="1" lang="es-ES" sz="1800"/>
              <a:t>. </a:t>
            </a:r>
            <a:r>
              <a:rPr lang="es-ES" sz="1800"/>
              <a:t>Esta tarea la realiza el cuerpo mayor, por ejemplo, las Municipalidades a través de asociaciones deportivas y juntas vecinales, por medio de subvenciones y capacitaciones.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s-ES" sz="1800"/>
              <a:t>La subsidiaridad respeta la dignidad de la persona</a:t>
            </a:r>
            <a:r>
              <a:rPr lang="es-ES" sz="1800"/>
              <a:t>, en la que ve un sujeto siempre capaz de dar algo a los otros. </a:t>
            </a:r>
            <a:r>
              <a:rPr lang="es-ES" sz="1800">
                <a:highlight>
                  <a:srgbClr val="FFFF00"/>
                </a:highlight>
              </a:rPr>
              <a:t>La subsidiaridad supone entregar algo de sí</a:t>
            </a:r>
            <a:r>
              <a:rPr lang="es-ES" sz="1800"/>
              <a:t>. </a:t>
            </a:r>
            <a:r>
              <a:rPr b="1" lang="es-ES" sz="1800"/>
              <a:t>El que es maestro apoya y subsidia al discípulo para que este saque cada una de sus potencialidades y en el futuro enseñe a otros el conocimiento adquirido. </a:t>
            </a:r>
            <a:endParaRPr/>
          </a:p>
          <a:p>
            <a:pPr indent="-952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</p:txBody>
      </p:sp>
      <p:sp>
        <p:nvSpPr>
          <p:cNvPr id="259" name="Google Shape;259;p40"/>
          <p:cNvSpPr/>
          <p:nvPr/>
        </p:nvSpPr>
        <p:spPr>
          <a:xfrm>
            <a:off x="4569712" y="0"/>
            <a:ext cx="4574288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40"/>
          <p:cNvSpPr/>
          <p:nvPr/>
        </p:nvSpPr>
        <p:spPr>
          <a:xfrm>
            <a:off x="4933186" y="557784"/>
            <a:ext cx="3847653" cy="5739187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C8CACA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t" dir="5400000" dist="19050">
              <a:srgbClr val="000000">
                <a:alpha val="6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ubsidiariedad: el justo y necesario equilibrio - El Mostrador" id="261" name="Google Shape;261;p40"/>
          <p:cNvPicPr preferRelativeResize="0"/>
          <p:nvPr/>
        </p:nvPicPr>
        <p:blipFill rotWithShape="1">
          <a:blip r:embed="rId3">
            <a:alphaModFix/>
          </a:blip>
          <a:srcRect b="-2" l="32403" r="19328" t="0"/>
          <a:stretch/>
        </p:blipFill>
        <p:spPr>
          <a:xfrm>
            <a:off x="5178531" y="1109266"/>
            <a:ext cx="3356649" cy="4636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nsulta Ciudadana Virtual - Instituto de Previsión Social" id="266" name="Google Shape;266;p41"/>
          <p:cNvPicPr preferRelativeResize="0"/>
          <p:nvPr/>
        </p:nvPicPr>
        <p:blipFill rotWithShape="1">
          <a:blip r:embed="rId3">
            <a:alphaModFix/>
          </a:blip>
          <a:srcRect b="15753" l="0" r="0" t="17172"/>
          <a:stretch/>
        </p:blipFill>
        <p:spPr>
          <a:xfrm>
            <a:off x="0" y="11"/>
            <a:ext cx="9144000" cy="3267846"/>
          </a:xfrm>
          <a:custGeom>
            <a:rect b="b" l="l" r="r" t="t"/>
            <a:pathLst>
              <a:path extrusionOk="0" h="3692092" w="12192000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67" name="Google Shape;267;p41"/>
          <p:cNvSpPr txBox="1"/>
          <p:nvPr>
            <p:ph idx="1" type="body"/>
          </p:nvPr>
        </p:nvSpPr>
        <p:spPr>
          <a:xfrm>
            <a:off x="192750" y="3294090"/>
            <a:ext cx="87585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s-ES" sz="1800"/>
              <a:t>La sociedad para ser más justa </a:t>
            </a:r>
            <a:r>
              <a:rPr lang="es-ES" sz="1800"/>
              <a:t>y caminar hacia el bien común </a:t>
            </a:r>
            <a:r>
              <a:rPr b="1" lang="es-ES" sz="1800"/>
              <a:t>necesita de una </a:t>
            </a:r>
            <a:r>
              <a:rPr b="1" lang="es-ES" sz="1800" u="sng">
                <a:solidFill>
                  <a:srgbClr val="FF0000"/>
                </a:solidFill>
                <a:highlight>
                  <a:srgbClr val="FFFF00"/>
                </a:highlight>
              </a:rPr>
              <a:t>participación activa </a:t>
            </a:r>
            <a:r>
              <a:rPr lang="es-ES" sz="1800"/>
              <a:t>de todos los miembros de la sociedad. </a:t>
            </a:r>
            <a:endParaRPr sz="23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 sz="1800"/>
              <a:t>La participación apunta a diversas instancias a través de las </a:t>
            </a:r>
            <a:r>
              <a:rPr lang="es-ES" sz="1800" u="sng">
                <a:solidFill>
                  <a:srgbClr val="FF0000"/>
                </a:solidFill>
              </a:rPr>
              <a:t>cuales </a:t>
            </a:r>
            <a:r>
              <a:rPr b="1" lang="es-ES" sz="1800" u="sng">
                <a:solidFill>
                  <a:srgbClr val="FF0000"/>
                </a:solidFill>
              </a:rPr>
              <a:t>el ciudadano, contribuye directamente o indirectamente</a:t>
            </a:r>
            <a:r>
              <a:rPr b="1" lang="es-ES" sz="1800"/>
              <a:t> </a:t>
            </a:r>
            <a:r>
              <a:rPr lang="es-ES" sz="1800"/>
              <a:t>a la vida cultural, económica, política y social de la comunidad civil a la que pertenece.</a:t>
            </a:r>
            <a:endParaRPr sz="23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s-ES" sz="1800"/>
              <a:t>La participación </a:t>
            </a:r>
            <a:r>
              <a:rPr b="1" lang="es-ES" sz="1800" u="sng">
                <a:solidFill>
                  <a:srgbClr val="FF0000"/>
                </a:solidFill>
                <a:highlight>
                  <a:srgbClr val="FFFF00"/>
                </a:highlight>
              </a:rPr>
              <a:t>es un deber </a:t>
            </a:r>
            <a:r>
              <a:rPr b="1" lang="es-ES" sz="1800"/>
              <a:t>que se cumple en conciencia.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s-ES" sz="1800"/>
              <a:t>La participación </a:t>
            </a:r>
            <a:r>
              <a:rPr b="1" lang="es-ES" sz="1800" u="sng">
                <a:solidFill>
                  <a:srgbClr val="FF0000"/>
                </a:solidFill>
                <a:highlight>
                  <a:srgbClr val="FFFF00"/>
                </a:highlight>
              </a:rPr>
              <a:t>es un desafío de justicia y caridad cristiana </a:t>
            </a:r>
            <a:r>
              <a:rPr lang="es-ES" sz="1800"/>
              <a:t>para aportar al </a:t>
            </a:r>
            <a:r>
              <a:rPr b="1" lang="es-ES" sz="1800"/>
              <a:t>bien común</a:t>
            </a:r>
            <a:r>
              <a:rPr lang="es-ES" sz="1800"/>
              <a:t>, ya sea en la elección de los representantes, en la administración e incluso en el gobierno del Estado.</a:t>
            </a:r>
            <a:endParaRPr sz="23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600"/>
              <a:buNone/>
            </a:pPr>
            <a:r>
              <a:rPr b="1" lang="es-ES" sz="1800" u="sng">
                <a:solidFill>
                  <a:srgbClr val="FF0000"/>
                </a:solidFill>
              </a:rPr>
              <a:t>Para cumplir con </a:t>
            </a:r>
            <a:r>
              <a:rPr b="1" lang="es-ES" sz="1800" u="sng">
                <a:solidFill>
                  <a:srgbClr val="FF0000"/>
                </a:solidFill>
                <a:highlight>
                  <a:srgbClr val="FFFF00"/>
                </a:highlight>
              </a:rPr>
              <a:t>este principio se nos invita</a:t>
            </a:r>
            <a:r>
              <a:rPr lang="es-ES" sz="1800"/>
              <a:t>, por ejemplo, a participar en </a:t>
            </a:r>
            <a:r>
              <a:rPr b="1" lang="es-ES" sz="1800"/>
              <a:t>juntas de vecinos, clubes deportivos, comités vecinales de seguridad,  elección de alcaldes, diputados, senadores y presidente, etc.  </a:t>
            </a:r>
            <a:endParaRPr sz="2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/>
          <p:nvPr>
            <p:ph type="title"/>
          </p:nvPr>
        </p:nvSpPr>
        <p:spPr>
          <a:xfrm>
            <a:off x="3432812" y="52493"/>
            <a:ext cx="5487795" cy="7114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Calibri"/>
              <a:buNone/>
            </a:pPr>
            <a:r>
              <a:rPr b="1" lang="es-ES" sz="3200" u="sng">
                <a:solidFill>
                  <a:srgbClr val="FF0000"/>
                </a:solidFill>
                <a:highlight>
                  <a:srgbClr val="00FFFF"/>
                </a:highlight>
              </a:rPr>
              <a:t>PRINCIPIO DE LA SOLIDARIDAD</a:t>
            </a:r>
            <a:endParaRPr sz="3200"/>
          </a:p>
        </p:txBody>
      </p:sp>
      <p:sp>
        <p:nvSpPr>
          <p:cNvPr id="273" name="Google Shape;273;p42"/>
          <p:cNvSpPr txBox="1"/>
          <p:nvPr>
            <p:ph idx="1" type="body"/>
          </p:nvPr>
        </p:nvSpPr>
        <p:spPr>
          <a:xfrm>
            <a:off x="3476693" y="908719"/>
            <a:ext cx="5667287" cy="5896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ES" sz="2000"/>
              <a:t>Está </a:t>
            </a:r>
            <a:r>
              <a:rPr b="1" lang="es-ES" sz="2000"/>
              <a:t>directamente relacionada </a:t>
            </a:r>
            <a:r>
              <a:rPr lang="es-ES" sz="2000"/>
              <a:t>con la </a:t>
            </a:r>
            <a:r>
              <a:rPr b="1" lang="es-ES" sz="2000">
                <a:solidFill>
                  <a:srgbClr val="FF0000"/>
                </a:solidFill>
              </a:rPr>
              <a:t>capacidad de </a:t>
            </a:r>
            <a:r>
              <a:rPr b="1" lang="es-ES" sz="2000">
                <a:solidFill>
                  <a:srgbClr val="FF0000"/>
                </a:solidFill>
                <a:highlight>
                  <a:srgbClr val="FFFF00"/>
                </a:highlight>
              </a:rPr>
              <a:t>estar atentos a las necesidades de los demás</a:t>
            </a:r>
            <a:r>
              <a:rPr lang="es-ES" sz="2000">
                <a:highlight>
                  <a:srgbClr val="FFFF00"/>
                </a:highlight>
              </a:rPr>
              <a:t>,</a:t>
            </a:r>
            <a:r>
              <a:rPr lang="es-ES" sz="2000"/>
              <a:t> considerando que todas </a:t>
            </a:r>
            <a:r>
              <a:rPr b="1" lang="es-ES" sz="2000">
                <a:solidFill>
                  <a:srgbClr val="FF0000"/>
                </a:solidFill>
              </a:rPr>
              <a:t>las personas tienen igual dignidad</a:t>
            </a:r>
            <a:r>
              <a:rPr lang="es-ES" sz="2000">
                <a:solidFill>
                  <a:srgbClr val="FF0000"/>
                </a:solidFill>
              </a:rPr>
              <a:t>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 sz="2000">
                <a:solidFill>
                  <a:srgbClr val="FF0000"/>
                </a:solidFill>
              </a:rPr>
              <a:t>La </a:t>
            </a:r>
            <a:r>
              <a:rPr b="1" lang="es-ES" sz="2000">
                <a:solidFill>
                  <a:srgbClr val="FF0000"/>
                </a:solidFill>
                <a:highlight>
                  <a:srgbClr val="FFFF00"/>
                </a:highlight>
              </a:rPr>
              <a:t>formación de la civilización del amor </a:t>
            </a:r>
            <a:r>
              <a:rPr lang="es-ES" sz="2000"/>
              <a:t>implica necesariamente la </a:t>
            </a:r>
            <a:r>
              <a:rPr b="1" lang="es-ES" sz="2000"/>
              <a:t>solidaridad.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 sz="2000">
                <a:solidFill>
                  <a:srgbClr val="FF0000"/>
                </a:solidFill>
              </a:rPr>
              <a:t>Es </a:t>
            </a:r>
            <a:r>
              <a:rPr b="1" lang="es-ES" sz="2000">
                <a:solidFill>
                  <a:srgbClr val="FF0000"/>
                </a:solidFill>
                <a:highlight>
                  <a:srgbClr val="FFFF00"/>
                </a:highlight>
              </a:rPr>
              <a:t>responsabilidad de todos </a:t>
            </a:r>
            <a:r>
              <a:rPr lang="es-ES" sz="2000"/>
              <a:t>la preocupación por los otros.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ES" sz="2000"/>
              <a:t>Esto </a:t>
            </a:r>
            <a:r>
              <a:rPr b="1" lang="es-ES" sz="2000"/>
              <a:t>no es solo </a:t>
            </a:r>
            <a:r>
              <a:rPr lang="es-ES" sz="2000"/>
              <a:t>un deber exclusivo del Estado, sino que </a:t>
            </a:r>
            <a:r>
              <a:rPr b="1" lang="es-ES" sz="2000">
                <a:solidFill>
                  <a:srgbClr val="FF0000"/>
                </a:solidFill>
              </a:rPr>
              <a:t>es tarea de todos los miembros de una comunidad.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 sz="2000">
                <a:solidFill>
                  <a:srgbClr val="FF0000"/>
                </a:solidFill>
              </a:rPr>
              <a:t>Solo es posible llevar a cabo la solidaridad cuando veo a la persona  como un semejante</a:t>
            </a:r>
            <a:r>
              <a:rPr b="1" lang="es-ES" sz="2000"/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 sz="2000">
                <a:solidFill>
                  <a:srgbClr val="FF0000"/>
                </a:solidFill>
              </a:rPr>
              <a:t>Jesús es el Hombre Nuevo </a:t>
            </a:r>
            <a:r>
              <a:rPr lang="es-ES" sz="2000"/>
              <a:t>que nos muestra cómo se debe actuar con la persona, </a:t>
            </a:r>
            <a:r>
              <a:rPr b="1" lang="es-ES" sz="2000">
                <a:solidFill>
                  <a:srgbClr val="FF0000"/>
                </a:solidFill>
              </a:rPr>
              <a:t>es la solidaridad en plenitud, pues Él fue solidario hasta la muerte</a:t>
            </a:r>
            <a:r>
              <a:rPr lang="es-ES" sz="2000"/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ES" sz="2000"/>
              <a:t>El principio de la solidaridad y los otros </a:t>
            </a:r>
            <a:r>
              <a:rPr lang="es-ES" sz="2000"/>
              <a:t>que hemos estudiado, </a:t>
            </a:r>
            <a:r>
              <a:rPr b="1" lang="es-ES" sz="2000">
                <a:solidFill>
                  <a:srgbClr val="FF0000"/>
                </a:solidFill>
              </a:rPr>
              <a:t>pueden ser vividos por personas no cristianas</a:t>
            </a:r>
            <a:r>
              <a:rPr lang="es-ES" sz="2000"/>
              <a:t>, pues </a:t>
            </a:r>
            <a:r>
              <a:rPr b="1" lang="es-ES" sz="2000"/>
              <a:t>pertenecen a la naturaleza humana.</a:t>
            </a:r>
            <a:endParaRPr/>
          </a:p>
        </p:txBody>
      </p:sp>
      <p:pic>
        <p:nvPicPr>
          <p:cNvPr descr="La solidaridad en tiempos de Covid-19 - Diario Puerto Varas" id="274" name="Google Shape;274;p42"/>
          <p:cNvPicPr preferRelativeResize="0"/>
          <p:nvPr/>
        </p:nvPicPr>
        <p:blipFill rotWithShape="1">
          <a:blip r:embed="rId3">
            <a:alphaModFix/>
          </a:blip>
          <a:srcRect b="1" l="38175" r="29959" t="0"/>
          <a:stretch/>
        </p:blipFill>
        <p:spPr>
          <a:xfrm>
            <a:off x="20" y="10"/>
            <a:ext cx="3476673" cy="68579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5" name="Google Shape;275;p42"/>
          <p:cNvCxnSpPr/>
          <p:nvPr/>
        </p:nvCxnSpPr>
        <p:spPr>
          <a:xfrm>
            <a:off x="3810700" y="2115117"/>
            <a:ext cx="4732020" cy="0"/>
          </a:xfrm>
          <a:prstGeom prst="straightConnector1">
            <a:avLst/>
          </a:prstGeom>
          <a:noFill/>
          <a:ln cap="flat" cmpd="sng" w="19050">
            <a:solidFill>
              <a:srgbClr val="EBB788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"/>
          <p:cNvSpPr txBox="1"/>
          <p:nvPr>
            <p:ph type="title"/>
          </p:nvPr>
        </p:nvSpPr>
        <p:spPr>
          <a:xfrm>
            <a:off x="0" y="188641"/>
            <a:ext cx="8799226" cy="6508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None/>
            </a:pPr>
            <a:br>
              <a:rPr b="1" lang="es-ES" u="sng">
                <a:solidFill>
                  <a:srgbClr val="FF0000"/>
                </a:solidFill>
                <a:highlight>
                  <a:srgbClr val="FFFF00"/>
                </a:highlight>
              </a:rPr>
            </a:br>
            <a:r>
              <a:rPr b="1" lang="es-ES" u="sng">
                <a:solidFill>
                  <a:srgbClr val="FF0000"/>
                </a:solidFill>
                <a:highlight>
                  <a:srgbClr val="FFFF00"/>
                </a:highlight>
              </a:rPr>
              <a:t>LOS VALORES SOCIALES FUNDAMENTALES</a:t>
            </a:r>
            <a:br>
              <a:rPr b="1" lang="es-ES" u="sng">
                <a:solidFill>
                  <a:srgbClr val="FF0000"/>
                </a:solidFill>
                <a:highlight>
                  <a:srgbClr val="FFFF00"/>
                </a:highlight>
              </a:rPr>
            </a:br>
            <a:r>
              <a:rPr b="1" lang="es-ES" u="sng">
                <a:solidFill>
                  <a:srgbClr val="FF0000"/>
                </a:solidFill>
                <a:highlight>
                  <a:srgbClr val="FFFF00"/>
                </a:highlight>
              </a:rPr>
              <a:t> DE LA VIDA SOCIAL</a:t>
            </a:r>
            <a:endParaRPr/>
          </a:p>
        </p:txBody>
      </p:sp>
      <p:pic>
        <p:nvPicPr>
          <p:cNvPr descr="La verdad y la mentira - La Bitácora de Domingo" id="281" name="Google Shape;2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13" y="1493165"/>
            <a:ext cx="3289879" cy="1935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bertad democracia Cubanet" id="282" name="Google Shape;28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1765" y="1493164"/>
            <a:ext cx="3567658" cy="1935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 dama de la justicia - Central Law" id="283" name="Google Shape;28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414" y="4037413"/>
            <a:ext cx="3289880" cy="23396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y es el Día Internacional de la Caridad" id="284" name="Google Shape;28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1765" y="4373125"/>
            <a:ext cx="3567658" cy="1983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"/>
          <p:cNvSpPr txBox="1"/>
          <p:nvPr>
            <p:ph type="title"/>
          </p:nvPr>
        </p:nvSpPr>
        <p:spPr>
          <a:xfrm>
            <a:off x="628650" y="116633"/>
            <a:ext cx="7886700" cy="576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Calibri"/>
              <a:buNone/>
            </a:pPr>
            <a:r>
              <a:rPr b="1" lang="es-ES">
                <a:solidFill>
                  <a:srgbClr val="FF0000"/>
                </a:solidFill>
                <a:highlight>
                  <a:srgbClr val="FFFF00"/>
                </a:highlight>
              </a:rPr>
              <a:t>LOS VALORES SOCIALES</a:t>
            </a:r>
            <a:endParaRPr/>
          </a:p>
        </p:txBody>
      </p:sp>
      <p:sp>
        <p:nvSpPr>
          <p:cNvPr id="290" name="Google Shape;290;p9"/>
          <p:cNvSpPr txBox="1"/>
          <p:nvPr>
            <p:ph idx="1" type="body"/>
          </p:nvPr>
        </p:nvSpPr>
        <p:spPr>
          <a:xfrm>
            <a:off x="167950" y="836726"/>
            <a:ext cx="4810500" cy="60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None/>
            </a:pPr>
            <a:r>
              <a:rPr b="1" lang="es-ES" sz="3400">
                <a:solidFill>
                  <a:srgbClr val="FF0000"/>
                </a:solidFill>
                <a:highlight>
                  <a:srgbClr val="FFFF00"/>
                </a:highlight>
              </a:rPr>
              <a:t>1. LA VERDAD</a:t>
            </a:r>
            <a:endParaRPr sz="3400"/>
          </a:p>
          <a:p>
            <a:pPr indent="0" lvl="0" marL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/>
              <a:t> 	En Antropología y en Ética: </a:t>
            </a:r>
            <a:r>
              <a:rPr lang="es-ES" sz="2400">
                <a:solidFill>
                  <a:srgbClr val="FF0000"/>
                </a:solidFill>
              </a:rPr>
              <a:t>“afirmación que describe adecuadamente la realidad”. </a:t>
            </a:r>
            <a:endParaRPr/>
          </a:p>
          <a:p>
            <a:pPr indent="457200" lvl="0" marL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/>
              <a:t>Podemos decir que la verdad no se inventa, sino que </a:t>
            </a:r>
            <a:r>
              <a:rPr b="1" lang="es-ES" sz="2400">
                <a:solidFill>
                  <a:srgbClr val="FF0000"/>
                </a:solidFill>
              </a:rPr>
              <a:t>se descubre mediante la razón</a:t>
            </a:r>
            <a:r>
              <a:rPr lang="es-ES" sz="2400"/>
              <a:t>. Es decir, </a:t>
            </a:r>
            <a:r>
              <a:rPr lang="es-ES" sz="2400">
                <a:highlight>
                  <a:srgbClr val="00FF00"/>
                </a:highlight>
              </a:rPr>
              <a:t>la verdad es </a:t>
            </a:r>
            <a:r>
              <a:rPr b="1" lang="es-ES" sz="2400">
                <a:solidFill>
                  <a:srgbClr val="FF0000"/>
                </a:solidFill>
                <a:highlight>
                  <a:srgbClr val="00FF00"/>
                </a:highlight>
              </a:rPr>
              <a:t>conocer lo que son las cosas realmente</a:t>
            </a:r>
            <a:r>
              <a:rPr lang="es-ES" sz="2400">
                <a:highlight>
                  <a:srgbClr val="00FF00"/>
                </a:highlight>
              </a:rPr>
              <a:t>.</a:t>
            </a:r>
            <a:r>
              <a:rPr lang="es-ES" sz="2400"/>
              <a:t> La verdad no puede reducirse a la simple opinión, porque esto es subjetivo.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/>
              <a:t>La verdad adquiere mayor profundidad en el cristianismo, con la persona de </a:t>
            </a:r>
            <a:r>
              <a:rPr b="1" lang="es-ES" sz="2400">
                <a:solidFill>
                  <a:srgbClr val="FF0000"/>
                </a:solidFill>
                <a:highlight>
                  <a:srgbClr val="00FF00"/>
                </a:highlight>
              </a:rPr>
              <a:t>Jesucristo</a:t>
            </a:r>
            <a:r>
              <a:rPr lang="es-ES" sz="2400"/>
              <a:t> que dice: </a:t>
            </a:r>
            <a:r>
              <a:rPr b="1" lang="es-ES" sz="2400">
                <a:solidFill>
                  <a:srgbClr val="FF0000"/>
                </a:solidFill>
              </a:rPr>
              <a:t>“Yo soy el Camino, la Verdad y la Vida”. </a:t>
            </a:r>
            <a:endParaRPr b="1" sz="24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descr="La verdad y la mentira - La Bitácora de Domingo" id="291" name="Google Shape;29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2466" y="1052736"/>
            <a:ext cx="3456384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erdad o mentira | MurciaEconomía.com | Periódico económico de la Región de  Murcia" id="292" name="Google Shape;29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6248" y="3356992"/>
            <a:ext cx="2448819" cy="1730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"/>
          <p:cNvSpPr txBox="1"/>
          <p:nvPr>
            <p:ph type="title"/>
          </p:nvPr>
        </p:nvSpPr>
        <p:spPr>
          <a:xfrm>
            <a:off x="467544" y="197739"/>
            <a:ext cx="7886700" cy="648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None/>
            </a:pPr>
            <a:br>
              <a:rPr b="1" lang="es-ES">
                <a:solidFill>
                  <a:srgbClr val="FF0000"/>
                </a:solidFill>
                <a:highlight>
                  <a:srgbClr val="FFFF00"/>
                </a:highlight>
              </a:rPr>
            </a:br>
            <a:r>
              <a:rPr b="1" lang="es-ES" sz="4077">
                <a:solidFill>
                  <a:srgbClr val="FF0000"/>
                </a:solidFill>
                <a:highlight>
                  <a:srgbClr val="FFFF00"/>
                </a:highlight>
              </a:rPr>
              <a:t>2. LA LIBERTAD</a:t>
            </a:r>
            <a:br>
              <a:rPr b="1" lang="es-ES">
                <a:solidFill>
                  <a:srgbClr val="FF0000"/>
                </a:solidFill>
                <a:highlight>
                  <a:srgbClr val="FFFF00"/>
                </a:highlight>
              </a:rPr>
            </a:br>
            <a:endParaRPr/>
          </a:p>
        </p:txBody>
      </p:sp>
      <p:sp>
        <p:nvSpPr>
          <p:cNvPr id="298" name="Google Shape;298;p10"/>
          <p:cNvSpPr txBox="1"/>
          <p:nvPr>
            <p:ph idx="1" type="body"/>
          </p:nvPr>
        </p:nvSpPr>
        <p:spPr>
          <a:xfrm>
            <a:off x="154050" y="980725"/>
            <a:ext cx="5507700" cy="5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b="1" lang="es-ES" sz="2300">
                <a:highlight>
                  <a:srgbClr val="00FFFF"/>
                </a:highlight>
              </a:rPr>
              <a:t>La libertad no la podemos entender como una simple excusa para hacer lo que cada uno desee con su vida</a:t>
            </a:r>
            <a:r>
              <a:rPr lang="es-ES" sz="2300"/>
              <a:t>, es decir, como un ejercicio incontrolable de su autonomía o de elección sin ningún parámetro que nos oriente.</a:t>
            </a:r>
            <a:endParaRPr sz="23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s-ES" sz="2300"/>
              <a:t> </a:t>
            </a:r>
            <a:r>
              <a:rPr b="1" lang="es-ES" sz="2300"/>
              <a:t>La libertad se apoya </a:t>
            </a:r>
            <a:r>
              <a:rPr lang="es-ES" sz="2300">
                <a:highlight>
                  <a:srgbClr val="00FF00"/>
                </a:highlight>
              </a:rPr>
              <a:t>en la </a:t>
            </a:r>
            <a:r>
              <a:rPr b="1" lang="es-ES" sz="2300">
                <a:solidFill>
                  <a:srgbClr val="FF0000"/>
                </a:solidFill>
                <a:highlight>
                  <a:srgbClr val="00FF00"/>
                </a:highlight>
              </a:rPr>
              <a:t>razón</a:t>
            </a:r>
            <a:r>
              <a:rPr lang="es-ES" sz="2300">
                <a:highlight>
                  <a:srgbClr val="00FF00"/>
                </a:highlight>
              </a:rPr>
              <a:t> y la </a:t>
            </a:r>
            <a:r>
              <a:rPr b="1" lang="es-ES" sz="2300">
                <a:solidFill>
                  <a:srgbClr val="FF0000"/>
                </a:solidFill>
                <a:highlight>
                  <a:srgbClr val="00FF00"/>
                </a:highlight>
              </a:rPr>
              <a:t>voluntad</a:t>
            </a:r>
            <a:r>
              <a:rPr lang="es-ES" sz="2300">
                <a:highlight>
                  <a:srgbClr val="00FF00"/>
                </a:highlight>
              </a:rPr>
              <a:t> </a:t>
            </a:r>
            <a:r>
              <a:rPr lang="es-ES" sz="2300"/>
              <a:t>que </a:t>
            </a:r>
            <a:r>
              <a:rPr b="1" lang="es-ES" sz="2300">
                <a:solidFill>
                  <a:srgbClr val="FF0000"/>
                </a:solidFill>
              </a:rPr>
              <a:t>capacitan a la persona para que encuentre el bien y se decida a seguirlo.</a:t>
            </a:r>
            <a:endParaRPr sz="23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b="1" lang="es-ES" sz="2300">
                <a:highlight>
                  <a:srgbClr val="00FFFF"/>
                </a:highlight>
              </a:rPr>
              <a:t>“El ejercicio de la libertad es inseparable de la dignidad humana”</a:t>
            </a:r>
            <a:r>
              <a:rPr lang="es-ES" sz="2300"/>
              <a:t>. </a:t>
            </a:r>
            <a:r>
              <a:rPr b="1" lang="es-ES" sz="2300">
                <a:solidFill>
                  <a:srgbClr val="FF0000"/>
                </a:solidFill>
              </a:rPr>
              <a:t>La libertad </a:t>
            </a:r>
            <a:r>
              <a:rPr b="1" lang="es-ES" sz="2300">
                <a:solidFill>
                  <a:srgbClr val="FF0000"/>
                </a:solidFill>
                <a:highlight>
                  <a:srgbClr val="00FF00"/>
                </a:highlight>
              </a:rPr>
              <a:t>es en el ser humano una fuerza de crecimiento y de maduración en la verdad y la bondad.</a:t>
            </a:r>
            <a:endParaRPr b="1" sz="2300">
              <a:solidFill>
                <a:srgbClr val="FF0000"/>
              </a:solidFill>
              <a:highlight>
                <a:srgbClr val="00FF00"/>
              </a:highlight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b="1" lang="es-ES" sz="2300">
                <a:highlight>
                  <a:srgbClr val="00FFFF"/>
                </a:highlight>
              </a:rPr>
              <a:t>La libertad alcanza su perfección</a:t>
            </a:r>
            <a:r>
              <a:rPr b="1" lang="es-ES" sz="2300"/>
              <a:t> cuando está ordenada a la búsqueda de </a:t>
            </a:r>
            <a:r>
              <a:rPr b="1" lang="es-ES" sz="2300">
                <a:solidFill>
                  <a:srgbClr val="FF0000"/>
                </a:solidFill>
              </a:rPr>
              <a:t>Dios</a:t>
            </a:r>
            <a:r>
              <a:rPr b="1" lang="es-ES" sz="2300"/>
              <a:t> y de nuestra verdadera </a:t>
            </a:r>
            <a:r>
              <a:rPr b="1" lang="es-ES" sz="2300">
                <a:solidFill>
                  <a:srgbClr val="FF0000"/>
                </a:solidFill>
              </a:rPr>
              <a:t>felicidad.</a:t>
            </a:r>
            <a:endParaRPr b="1" sz="2300">
              <a:solidFill>
                <a:srgbClr val="FF0000"/>
              </a:solidFill>
            </a:endParaRPr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descr="libertad democracia Cubanet" id="299" name="Google Shape;29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3618" y="845811"/>
            <a:ext cx="2822586" cy="18785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BERTAD: UNA VISIÓN PSICOLÓGICA - EsLibertad" id="300" name="Google Shape;30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1901" y="2924944"/>
            <a:ext cx="3166020" cy="1978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 mal uso y abuso de la libertad de expresión | Tribuna Libre |  TELDEACTUALIDAD" id="301" name="Google Shape;30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58288" y="5104247"/>
            <a:ext cx="2267394" cy="1648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Calibri"/>
              <a:buNone/>
            </a:pPr>
            <a:r>
              <a:rPr b="1" lang="es-ES">
                <a:solidFill>
                  <a:srgbClr val="FF0000"/>
                </a:solidFill>
                <a:highlight>
                  <a:srgbClr val="FFFF00"/>
                </a:highlight>
              </a:rPr>
              <a:t>3. LA JUSTICIA</a:t>
            </a:r>
            <a:br>
              <a:rPr b="1" lang="es-ES">
                <a:solidFill>
                  <a:srgbClr val="FF0000"/>
                </a:solidFill>
                <a:highlight>
                  <a:srgbClr val="FFFF00"/>
                </a:highlight>
              </a:rPr>
            </a:br>
            <a:endParaRPr/>
          </a:p>
        </p:txBody>
      </p:sp>
      <p:sp>
        <p:nvSpPr>
          <p:cNvPr id="307" name="Google Shape;307;p11"/>
          <p:cNvSpPr txBox="1"/>
          <p:nvPr>
            <p:ph idx="1" type="body"/>
          </p:nvPr>
        </p:nvSpPr>
        <p:spPr>
          <a:xfrm>
            <a:off x="107500" y="1196750"/>
            <a:ext cx="4367100" cy="55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s-ES" sz="2200">
                <a:highlight>
                  <a:srgbClr val="00FFFF"/>
                </a:highlight>
              </a:rPr>
              <a:t>La justicia se define</a:t>
            </a:r>
            <a:r>
              <a:rPr lang="es-ES" sz="2200"/>
              <a:t> como una </a:t>
            </a:r>
            <a:r>
              <a:rPr b="1" lang="es-ES" sz="2200">
                <a:solidFill>
                  <a:srgbClr val="FF0000"/>
                </a:solidFill>
                <a:highlight>
                  <a:srgbClr val="00FF00"/>
                </a:highlight>
              </a:rPr>
              <a:t>“constante y firme voluntad de dar a Dios y al prójimo lo que es debido”. </a:t>
            </a:r>
            <a:endParaRPr sz="2200">
              <a:highlight>
                <a:srgbClr val="00FF00"/>
              </a:highlight>
            </a:endParaRPr>
          </a:p>
          <a:p>
            <a:pPr indent="0" lvl="0" marL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s-ES" sz="2200">
                <a:highlight>
                  <a:srgbClr val="00FFFF"/>
                </a:highlight>
              </a:rPr>
              <a:t>La justicia es</a:t>
            </a:r>
            <a:r>
              <a:rPr lang="es-ES" sz="2200">
                <a:highlight>
                  <a:srgbClr val="00FF00"/>
                </a:highlight>
              </a:rPr>
              <a:t> una </a:t>
            </a:r>
            <a:r>
              <a:rPr b="1" lang="es-ES" sz="2200">
                <a:solidFill>
                  <a:srgbClr val="FF0000"/>
                </a:solidFill>
                <a:highlight>
                  <a:srgbClr val="00FF00"/>
                </a:highlight>
              </a:rPr>
              <a:t>virtud</a:t>
            </a:r>
            <a:r>
              <a:rPr lang="es-ES" sz="2200"/>
              <a:t> y esto implica que sea una acción permanente en nosotros.</a:t>
            </a:r>
            <a:endParaRPr sz="2200"/>
          </a:p>
          <a:p>
            <a:pPr indent="0" lvl="0" marL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2100"/>
              <a:buNone/>
            </a:pPr>
            <a:r>
              <a:rPr b="1" lang="es-ES" sz="2200">
                <a:solidFill>
                  <a:srgbClr val="FF0000"/>
                </a:solidFill>
                <a:highlight>
                  <a:srgbClr val="00FFFF"/>
                </a:highlight>
              </a:rPr>
              <a:t>La justicia implica respetar la dignidad humana. </a:t>
            </a:r>
            <a:endParaRPr sz="2200">
              <a:highlight>
                <a:srgbClr val="00FFFF"/>
              </a:highlight>
            </a:endParaRPr>
          </a:p>
          <a:p>
            <a:pPr indent="0" lvl="0" marL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s-ES" sz="2200"/>
              <a:t>La justicia no se agota en cuestiones legales o normativas, sino que </a:t>
            </a:r>
            <a:r>
              <a:rPr b="1" lang="es-ES" sz="2200">
                <a:solidFill>
                  <a:srgbClr val="FF0000"/>
                </a:solidFill>
                <a:highlight>
                  <a:srgbClr val="00FFFF"/>
                </a:highlight>
              </a:rPr>
              <a:t>debe abrirse a la dimensión cristiana del amor.</a:t>
            </a:r>
            <a:endParaRPr b="1" sz="220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indent="0" lvl="0" marL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s-ES" sz="2200" u="sng"/>
              <a:t>El fundamento último </a:t>
            </a:r>
            <a:r>
              <a:rPr lang="es-ES" sz="2200"/>
              <a:t>del respeto a la justicia, </a:t>
            </a:r>
            <a:r>
              <a:rPr b="1" lang="es-ES" sz="2200">
                <a:solidFill>
                  <a:srgbClr val="FF0000"/>
                </a:solidFill>
                <a:highlight>
                  <a:srgbClr val="00FFFF"/>
                </a:highlight>
              </a:rPr>
              <a:t>es el reconocimiento de la dignidad humana</a:t>
            </a:r>
            <a:r>
              <a:rPr b="1" lang="es-ES" sz="2200">
                <a:solidFill>
                  <a:srgbClr val="FF0000"/>
                </a:solidFill>
              </a:rPr>
              <a:t> </a:t>
            </a:r>
            <a:r>
              <a:rPr b="1" lang="es-ES" sz="2600">
                <a:solidFill>
                  <a:srgbClr val="FF0000"/>
                </a:solidFill>
                <a:highlight>
                  <a:srgbClr val="00FF00"/>
                </a:highlight>
              </a:rPr>
              <a:t>como expresión de la caridad. </a:t>
            </a:r>
            <a:endParaRPr b="1" sz="2600">
              <a:solidFill>
                <a:srgbClr val="FF0000"/>
              </a:solidFill>
              <a:highlight>
                <a:srgbClr val="00FF00"/>
              </a:highlight>
            </a:endParaRPr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descr="Día Mundial de la Justicia Social | YMCA" id="308" name="Google Shape;3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4760" y="3312368"/>
            <a:ext cx="45720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 dama de la justicia - Central Law" id="309" name="Google Shape;30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1098" y="1141852"/>
            <a:ext cx="4265258" cy="200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2"/>
          <p:cNvSpPr txBox="1"/>
          <p:nvPr>
            <p:ph type="title"/>
          </p:nvPr>
        </p:nvSpPr>
        <p:spPr>
          <a:xfrm>
            <a:off x="628650" y="365127"/>
            <a:ext cx="7886700" cy="6156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None/>
            </a:pPr>
            <a:br>
              <a:rPr b="1" lang="es-ES">
                <a:solidFill>
                  <a:srgbClr val="FF0000"/>
                </a:solidFill>
                <a:highlight>
                  <a:srgbClr val="FFFF00"/>
                </a:highlight>
              </a:rPr>
            </a:br>
            <a:r>
              <a:rPr b="1" lang="es-ES">
                <a:solidFill>
                  <a:srgbClr val="FF0000"/>
                </a:solidFill>
                <a:highlight>
                  <a:srgbClr val="FFFF00"/>
                </a:highlight>
              </a:rPr>
              <a:t>4. LA CARIDAD (EL AMOR) </a:t>
            </a:r>
            <a:br>
              <a:rPr b="1" lang="es-ES">
                <a:solidFill>
                  <a:srgbClr val="FF0000"/>
                </a:solidFill>
                <a:highlight>
                  <a:srgbClr val="FFFF00"/>
                </a:highlight>
              </a:rPr>
            </a:br>
            <a:endParaRPr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15" name="Google Shape;315;p12"/>
          <p:cNvSpPr txBox="1"/>
          <p:nvPr>
            <p:ph idx="1" type="body"/>
          </p:nvPr>
        </p:nvSpPr>
        <p:spPr>
          <a:xfrm>
            <a:off x="107500" y="980725"/>
            <a:ext cx="5290800" cy="5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indent="0" lvl="0" marL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59353"/>
              <a:buNone/>
            </a:pPr>
            <a:r>
              <a:rPr b="1" lang="es-ES" sz="3538">
                <a:solidFill>
                  <a:srgbClr val="FF0000"/>
                </a:solidFill>
                <a:highlight>
                  <a:srgbClr val="00FFFF"/>
                </a:highlight>
              </a:rPr>
              <a:t>El ser humano  exige que lo veamos y reconozcamos como sujeto de derechos y deberes.</a:t>
            </a:r>
            <a:r>
              <a:rPr lang="es-ES" sz="3538"/>
              <a:t> </a:t>
            </a:r>
            <a:r>
              <a:rPr b="1" lang="es-ES" sz="3538">
                <a:solidFill>
                  <a:srgbClr val="FF0000"/>
                </a:solidFill>
              </a:rPr>
              <a:t>Los cristianos además reconocen a este ser humano </a:t>
            </a:r>
            <a:r>
              <a:rPr b="1" lang="es-ES" sz="3538">
                <a:solidFill>
                  <a:srgbClr val="FF0000"/>
                </a:solidFill>
                <a:highlight>
                  <a:srgbClr val="00FF00"/>
                </a:highlight>
              </a:rPr>
              <a:t>como hijo de Dios</a:t>
            </a:r>
            <a:r>
              <a:rPr b="1" lang="es-ES" sz="3538">
                <a:solidFill>
                  <a:srgbClr val="FF0000"/>
                </a:solidFill>
              </a:rPr>
              <a:t>. </a:t>
            </a:r>
            <a:endParaRPr sz="3538"/>
          </a:p>
          <a:p>
            <a:pPr indent="0" lvl="0" marL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ct val="59353"/>
              <a:buNone/>
            </a:pPr>
            <a:r>
              <a:rPr b="1" lang="es-ES" sz="3538">
                <a:solidFill>
                  <a:srgbClr val="FF0000"/>
                </a:solidFill>
                <a:highlight>
                  <a:srgbClr val="00FFFF"/>
                </a:highlight>
              </a:rPr>
              <a:t>Dios mismo es Caridad.</a:t>
            </a:r>
            <a:endParaRPr sz="3538">
              <a:highlight>
                <a:srgbClr val="00FFFF"/>
              </a:highlight>
            </a:endParaRPr>
          </a:p>
          <a:p>
            <a:pPr indent="0" lvl="0" marL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59353"/>
              <a:buNone/>
            </a:pPr>
            <a:r>
              <a:rPr lang="es-ES" sz="3538"/>
              <a:t>“La caridad no sólo como inspiradora de la acción individual, sino también como </a:t>
            </a:r>
            <a:r>
              <a:rPr b="1" lang="es-ES" sz="4018" u="sng">
                <a:solidFill>
                  <a:srgbClr val="FF0000"/>
                </a:solidFill>
                <a:highlight>
                  <a:srgbClr val="00FFFF"/>
                </a:highlight>
              </a:rPr>
              <a:t>fuerza capaz de suscitar vías nuevas para afrontar los problemas del mundo de hoy</a:t>
            </a:r>
            <a:r>
              <a:rPr b="1" lang="es-ES" sz="4018">
                <a:solidFill>
                  <a:srgbClr val="FF0000"/>
                </a:solidFill>
                <a:highlight>
                  <a:srgbClr val="FFD966"/>
                </a:highlight>
              </a:rPr>
              <a:t> </a:t>
            </a:r>
            <a:r>
              <a:rPr b="1" lang="es-ES" sz="3538">
                <a:solidFill>
                  <a:srgbClr val="FF0000"/>
                </a:solidFill>
              </a:rPr>
              <a:t>y para </a:t>
            </a:r>
            <a:r>
              <a:rPr b="1" lang="es-ES" sz="3538">
                <a:solidFill>
                  <a:srgbClr val="FF0000"/>
                </a:solidFill>
                <a:highlight>
                  <a:srgbClr val="00FF00"/>
                </a:highlight>
              </a:rPr>
              <a:t>renovar</a:t>
            </a:r>
            <a:r>
              <a:rPr b="1" lang="es-ES" sz="3538">
                <a:solidFill>
                  <a:srgbClr val="FF0000"/>
                </a:solidFill>
              </a:rPr>
              <a:t> </a:t>
            </a:r>
            <a:r>
              <a:rPr b="1" lang="es-ES" sz="3538">
                <a:solidFill>
                  <a:srgbClr val="FF0000"/>
                </a:solidFill>
                <a:highlight>
                  <a:srgbClr val="00FF00"/>
                </a:highlight>
              </a:rPr>
              <a:t>profundamente desde su interior las estructuras</a:t>
            </a:r>
            <a:r>
              <a:rPr b="1" lang="es-ES" sz="3538">
                <a:solidFill>
                  <a:srgbClr val="FF0000"/>
                </a:solidFill>
              </a:rPr>
              <a:t>, </a:t>
            </a:r>
            <a:r>
              <a:rPr b="1" lang="es-ES" sz="3538">
                <a:solidFill>
                  <a:srgbClr val="FF0000"/>
                </a:solidFill>
                <a:highlight>
                  <a:srgbClr val="00FF00"/>
                </a:highlight>
              </a:rPr>
              <a:t>organizaciones sociales y ordenamientos jurídicos</a:t>
            </a:r>
            <a:r>
              <a:rPr b="1" lang="es-ES" sz="3538">
                <a:solidFill>
                  <a:srgbClr val="FF0000"/>
                </a:solidFill>
              </a:rPr>
              <a:t>”.</a:t>
            </a:r>
            <a:endParaRPr sz="3538"/>
          </a:p>
          <a:p>
            <a:pPr indent="0" lvl="0" marL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62530"/>
              <a:buNone/>
            </a:pPr>
            <a:r>
              <a:rPr b="1" lang="es-ES" sz="3838">
                <a:highlight>
                  <a:srgbClr val="00FFFF"/>
                </a:highlight>
              </a:rPr>
              <a:t>Esta </a:t>
            </a:r>
            <a:r>
              <a:rPr b="1" lang="es-ES" sz="3838">
                <a:solidFill>
                  <a:srgbClr val="FF0000"/>
                </a:solidFill>
                <a:highlight>
                  <a:srgbClr val="00FFFF"/>
                </a:highlight>
              </a:rPr>
              <a:t>virtud teologal</a:t>
            </a:r>
            <a:r>
              <a:rPr b="1" lang="es-ES" sz="3838">
                <a:highlight>
                  <a:srgbClr val="00FFFF"/>
                </a:highlight>
              </a:rPr>
              <a:t> articula y ordena todos los demás valores y principios.</a:t>
            </a:r>
            <a:endParaRPr sz="3538">
              <a:highlight>
                <a:srgbClr val="00FFFF"/>
              </a:highlight>
            </a:endParaRPr>
          </a:p>
          <a:p>
            <a:pPr indent="0" lvl="0" marL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53794"/>
              <a:buNone/>
            </a:pPr>
            <a:r>
              <a:rPr b="1" lang="es-ES" sz="3903">
                <a:solidFill>
                  <a:srgbClr val="FF0000"/>
                </a:solidFill>
                <a:highlight>
                  <a:srgbClr val="00FF00"/>
                </a:highlight>
              </a:rPr>
              <a:t>“Ama a tu prójimo como te amas a ti mismo”</a:t>
            </a:r>
            <a:endParaRPr b="1" sz="3903">
              <a:solidFill>
                <a:srgbClr val="FF0000"/>
              </a:solidFill>
              <a:highlight>
                <a:srgbClr val="00FF00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52097"/>
              <a:buNone/>
            </a:pPr>
            <a:r>
              <a:t/>
            </a:r>
            <a:endParaRPr sz="4030">
              <a:solidFill>
                <a:srgbClr val="20212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52097"/>
              <a:buNone/>
            </a:pPr>
            <a:r>
              <a:rPr lang="es-ES" sz="403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Esto dijo Jesús: ámense unos a otros como yo los he amado. Nadie tiene amor más grande que el que da la vida por sus amigos. (Juan 15,12)</a:t>
            </a:r>
            <a:endParaRPr sz="5889">
              <a:solidFill>
                <a:srgbClr val="FF0000"/>
              </a:solidFill>
            </a:endParaRPr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62533"/>
              <a:buNone/>
            </a:pPr>
            <a:r>
              <a:t/>
            </a:r>
            <a:endParaRPr sz="3358"/>
          </a:p>
        </p:txBody>
      </p:sp>
      <p:pic>
        <p:nvPicPr>
          <p:cNvPr descr="Concepto de beneficencia - Definición en DeConceptos.com" id="316" name="Google Shape;31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2953" y="3410704"/>
            <a:ext cx="2143150" cy="15170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y es el Día Internacional de la Caridad" id="317" name="Google Shape;31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8104" y="1128278"/>
            <a:ext cx="3392849" cy="1944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 caridad no cierra&quot; - Iglesia Española - COPE" id="318" name="Google Shape;31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08104" y="5135873"/>
            <a:ext cx="3266476" cy="1569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3"/>
          <p:cNvSpPr txBox="1"/>
          <p:nvPr>
            <p:ph type="title"/>
          </p:nvPr>
        </p:nvSpPr>
        <p:spPr>
          <a:xfrm>
            <a:off x="323525" y="-2"/>
            <a:ext cx="8352000" cy="10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Calibri"/>
              <a:buNone/>
            </a:pPr>
            <a:r>
              <a:rPr b="1" lang="es-ES" sz="3700" u="sng">
                <a:solidFill>
                  <a:srgbClr val="FF0000"/>
                </a:solidFill>
                <a:highlight>
                  <a:srgbClr val="00FF00"/>
                </a:highlight>
              </a:rPr>
              <a:t>RESUMIENDO:      LOS VALORES SOCIALES</a:t>
            </a:r>
            <a:endParaRPr sz="3700"/>
          </a:p>
        </p:txBody>
      </p:sp>
      <p:sp>
        <p:nvSpPr>
          <p:cNvPr id="324" name="Google Shape;324;p13"/>
          <p:cNvSpPr txBox="1"/>
          <p:nvPr>
            <p:ph idx="1" type="body"/>
          </p:nvPr>
        </p:nvSpPr>
        <p:spPr>
          <a:xfrm>
            <a:off x="323528" y="980728"/>
            <a:ext cx="8712968" cy="577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s-ES" sz="3200"/>
              <a:t>1.</a:t>
            </a:r>
            <a:r>
              <a:rPr lang="es-ES"/>
              <a:t>                                                                     </a:t>
            </a:r>
            <a:r>
              <a:rPr b="1" lang="es-ES" sz="3200"/>
              <a:t>2.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32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32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32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s-ES" sz="3200"/>
              <a:t>3.</a:t>
            </a:r>
            <a:r>
              <a:rPr lang="es-ES"/>
              <a:t>                                                                     </a:t>
            </a:r>
            <a:r>
              <a:rPr b="1" lang="es-ES" sz="3200"/>
              <a:t> 4. </a:t>
            </a:r>
            <a:r>
              <a:rPr lang="es-ES"/>
              <a:t> </a:t>
            </a:r>
            <a:r>
              <a:rPr b="1" lang="es-ES" sz="3200"/>
              <a:t> </a:t>
            </a:r>
            <a:endParaRPr/>
          </a:p>
        </p:txBody>
      </p:sp>
      <p:pic>
        <p:nvPicPr>
          <p:cNvPr descr="La verdad y la mentira - La Bitácora de Domingo" id="325" name="Google Shape;32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4" y="1007480"/>
            <a:ext cx="3379157" cy="21119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bertad democracia Cubanet" id="326" name="Google Shape;32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5056" y="1037487"/>
            <a:ext cx="3173242" cy="21119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 dama de la justicia - Central Law" id="327" name="Google Shape;32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7583" y="4264700"/>
            <a:ext cx="3379157" cy="21119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y es el Día Internacional de la Caridad" id="328" name="Google Shape;32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65056" y="4399610"/>
            <a:ext cx="3571440" cy="211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2020-04-19T23:34:57Z</dcterms:created>
  <dc:creator>Pablo Alejandro Gálvez Valencia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0x0101000512D87434F918408EB2AE034C35854D</vt:lpwstr>
  </property>
</Properties>
</file>